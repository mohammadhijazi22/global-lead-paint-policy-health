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77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8:11:48.788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44.03851"/>
      <inkml:brushProperty name="anchorY" value="-883.51923"/>
      <inkml:brushProperty name="scaleFactor" value="0.5"/>
    </inkml:brush>
  </inkml:definitions>
  <inkml:trace contextRef="#ctx0" brushRef="#br0">1 0 15586,'0'1116'0,"6118"-1116"0,-6118-1116 0,-6118 1116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1T18:13:17.029"/>
    </inkml:context>
    <inkml:brush xml:id="br0">
      <inkml:brushProperty name="width" value="0.1" units="cm"/>
      <inkml:brushProperty name="height" value="0.1" units="cm"/>
      <inkml:brushProperty name="color" value="#DA0C07"/>
      <inkml:brushProperty name="inkEffects" value="lava"/>
      <inkml:brushProperty name="anchorX" value="-844.03851"/>
      <inkml:brushProperty name="anchorY" value="-883.51923"/>
      <inkml:brushProperty name="scaleFactor" value="0.5"/>
    </inkml:brush>
  </inkml:definitions>
  <inkml:trace contextRef="#ctx0" brushRef="#br0">1 0 15586,'0'1116'0,"6118"-1116"0,-6118-1116 0,-6118 1116 0</inkml:trace>
</inkml:ink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0" y="0"/>
            <a:ext cx="12227975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730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2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278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6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1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1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578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219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5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798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36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95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843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85584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27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00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10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3012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722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2" y="0"/>
            <a:ext cx="12226777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12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5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140.png"/><Relationship Id="rId4" Type="http://schemas.openxmlformats.org/officeDocument/2006/relationships/customXml" Target="../ink/ink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microsoft.com/office/2007/relationships/hdphoto" Target="../media/hdphoto4.wdp"/><Relationship Id="rId4" Type="http://schemas.openxmlformats.org/officeDocument/2006/relationships/image" Target="../media/image19.png"/><Relationship Id="rId9" Type="http://schemas.microsoft.com/office/2007/relationships/hdphoto" Target="../media/hdphoto6.wdp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6012" y="1755009"/>
            <a:ext cx="10235174" cy="1536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Visualizing Global Lead Pollution Policy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3200" dirty="0">
                <a:effectLst/>
                <a:latin typeface="Segoe UI Symbol" panose="020B050204020402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A Comparative Study of Lead Paint Regulation</a:t>
            </a:r>
            <a:endParaRPr 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1994859" y="3291840"/>
            <a:ext cx="7897483" cy="12405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defRPr sz="2000">
                <a:solidFill>
                  <a:srgbClr val="3C3C3C"/>
                </a:solidFill>
              </a:defRPr>
            </a:pPr>
            <a:r>
              <a:rPr sz="2800" dirty="0"/>
              <a:t>Statistical Analysis using Global Health and Policy Data</a:t>
            </a:r>
            <a:br>
              <a:rPr sz="2800" dirty="0"/>
            </a:br>
            <a:r>
              <a:rPr sz="2400" dirty="0"/>
              <a:t>Mohamad A. Hijazi | DSC 604</a:t>
            </a:r>
            <a:r>
              <a:rPr lang="en-US" sz="2400" dirty="0"/>
              <a:t> (Statistics for Data Science)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Motivation &amp;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1" y="1645920"/>
            <a:ext cx="10149840" cy="4555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800" dirty="0"/>
              <a:t>Lead exposure is a global public-health concern with no known safe level.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800" dirty="0"/>
              <a:t>Lead paint is a major preventable source of exposure.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800" dirty="0"/>
              <a:t>Only about half of countries have legally binding lead paint regulation.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800" dirty="0"/>
              <a:t>Research question: Do regulated countries exhibit lower lead-related health burden?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8446479" cy="1433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3C3C3C"/>
                </a:solidFill>
              </a:defRPr>
            </a:pPr>
            <a:r>
              <a:rPr sz="2000" dirty="0"/>
              <a:t>Our World in Data / WHO: lead paint regulation (Yes / No).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3C3C3C"/>
                </a:solidFill>
              </a:defRPr>
            </a:pPr>
            <a:r>
              <a:rPr sz="2000" dirty="0"/>
              <a:t>IHME Global Burden of Disease 2023: lead-attributable DALY and death rates.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  <a:defRPr sz="1800">
                <a:solidFill>
                  <a:srgbClr val="3C3C3C"/>
                </a:solidFill>
              </a:defRPr>
            </a:pPr>
            <a:r>
              <a:rPr sz="2000" dirty="0"/>
              <a:t>Unit of analysis: country-level cross-section for year 2023.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584779-29A8-9469-36DB-27C594CAF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218" y="3193998"/>
            <a:ext cx="2703872" cy="28559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76A9BB-1D79-B19F-DEFD-8EF109BA77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20"/>
          <a:stretch>
            <a:fillRect/>
          </a:stretch>
        </p:blipFill>
        <p:spPr>
          <a:xfrm>
            <a:off x="822734" y="3193998"/>
            <a:ext cx="7839483" cy="28559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6500113" cy="2130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dirty="0"/>
              <a:t>Filtered IHME data to 2023, all ages, both sexes, and rate metrics.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dirty="0"/>
              <a:t>Extracted DALY rate and death rate from long-format IHME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dirty="0"/>
              <a:t>Harmonized country names across datasets.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dirty="0"/>
              <a:t>Derived regions from ISO-3 country codes.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dirty="0"/>
              <a:t>Log-transformed outcomes for regression modeling.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C71D8B-26E5-7659-4FBC-61F69341B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00" y="3087818"/>
            <a:ext cx="9980023" cy="30869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Exploratory Analysis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1280160"/>
            <a:ext cx="7279044" cy="12997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dirty="0"/>
              <a:t>Regulated countries show substantially lower mean and median DALY rates.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dirty="0"/>
              <a:t>Death-rate differences are weaker and less consistent.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dirty="0"/>
              <a:t>DALY rate and death rate are moderately positively correlated (~0.48).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282C0D-CEC5-E050-6262-B2DA10430D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117385" y="648929"/>
            <a:ext cx="3331970" cy="20532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8B24E0-D0C6-8424-1127-F9073DD68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470" y="2702132"/>
            <a:ext cx="10736250" cy="34259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C0866-C1A3-8290-5836-75745605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A8849E-E0F1-E17E-33FC-41312F2C7FD0}"/>
              </a:ext>
            </a:extLst>
          </p:cNvPr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Exploratory Analysis Highlights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47665F-A721-3A8F-E13A-0057C6D41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705" y="1722612"/>
            <a:ext cx="5001646" cy="36359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34F0946-6378-62ED-75BD-FF0E1A91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474" y="1728801"/>
            <a:ext cx="5001646" cy="3629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27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9702143" cy="17021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400" dirty="0"/>
              <a:t>Welch’s t-test and Mann–Whitney U test used for robustness.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400" dirty="0"/>
              <a:t>DALY rate: strong statistical evidence of lower burden in regulated countries.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400" dirty="0"/>
              <a:t>Death rate: statistically significant difference but small effect size.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051141-A8F2-0EC9-33F7-856201D6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98" t="15151" r="95" b="2539"/>
          <a:stretch>
            <a:fillRect/>
          </a:stretch>
        </p:blipFill>
        <p:spPr>
          <a:xfrm>
            <a:off x="6260210" y="3006970"/>
            <a:ext cx="5154804" cy="274235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4D7FB5-DAA9-3A88-80DB-ACEC871F2E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3811" y="3006970"/>
            <a:ext cx="5154804" cy="27423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Effect Size (Cohen’s 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03792"/>
            <a:ext cx="7222426" cy="1433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DALY rate: large negative effect (regulated countries lower burden).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Death rate: small positive effect.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Effect sizes help interpret practical importance beyond p-values.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0457B-5DA9-B7B8-E44F-6C483C1147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98" t="15151" r="95" b="2539"/>
          <a:stretch>
            <a:fillRect/>
          </a:stretch>
        </p:blipFill>
        <p:spPr>
          <a:xfrm>
            <a:off x="6260210" y="3006970"/>
            <a:ext cx="5154804" cy="2742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52071C-498B-3128-0BC3-ECC22BBC7A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3811" y="3006970"/>
            <a:ext cx="5154804" cy="27423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BFCFC81-8F04-1111-50B3-E4B2657F5D5D}"/>
                  </a:ext>
                </a:extLst>
              </p14:cNvPr>
              <p14:cNvContentPartPr/>
              <p14:nvPr/>
            </p14:nvContentPartPr>
            <p14:xfrm>
              <a:off x="902085" y="4699995"/>
              <a:ext cx="2202856" cy="4021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BFCFC81-8F04-1111-50B3-E4B2657F5D5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4445" y="4681995"/>
                <a:ext cx="2238496" cy="43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34E8B5B-1C62-59E7-6C3C-DDCA7E6AD714}"/>
                  </a:ext>
                </a:extLst>
              </p14:cNvPr>
              <p14:cNvContentPartPr/>
              <p14:nvPr/>
            </p14:nvContentPartPr>
            <p14:xfrm>
              <a:off x="6440401" y="4699995"/>
              <a:ext cx="2202856" cy="4021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34E8B5B-1C62-59E7-6C3C-DDCA7E6AD71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22761" y="4681995"/>
                <a:ext cx="2238496" cy="437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Regression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47764"/>
            <a:ext cx="7149586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Model: log(outcome) ~ regulation status.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DALY model: significant negative coefficient, ~20% lower burden.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Death model: non-significant coefficient, very low R².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ACAF87-4446-7DA7-257A-423350542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03" y="2063427"/>
            <a:ext cx="10515600" cy="1939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286890-BE26-819F-B90F-1239415C46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93"/>
          <a:stretch>
            <a:fillRect/>
          </a:stretch>
        </p:blipFill>
        <p:spPr>
          <a:xfrm>
            <a:off x="894303" y="4002758"/>
            <a:ext cx="10515600" cy="21008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Regression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4255"/>
            <a:ext cx="6900543" cy="14339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Residuals vs fitted: two bands expected due to binary predictor.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Q–Q plots show tail deviations typical of cross-country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3C3C3C"/>
                </a:solidFill>
              </a:defRPr>
            </a:pPr>
            <a:r>
              <a:rPr sz="2000" dirty="0"/>
              <a:t>Models suitable for exploratory association, not causal inference.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62C58-10B0-EAEC-7A17-E5F7F74DB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4412" y="2618174"/>
            <a:ext cx="5345723" cy="188532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72FD3-D9A3-1CE6-A686-66EA6C396A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4412" y="4503496"/>
            <a:ext cx="5345723" cy="1706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849615-4674-EF87-4D58-6D5D6FD8D0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8688" y="2618174"/>
            <a:ext cx="5345724" cy="18853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1B47D0-1190-6C7E-EC67-592FBF91145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8689" y="4503496"/>
            <a:ext cx="5345724" cy="17063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Interpretation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257357" cy="2616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3C3C3C"/>
                </a:solidFill>
              </a:defRPr>
            </a:pPr>
            <a:r>
              <a:rPr sz="2800" dirty="0"/>
              <a:t>Strong evidence linking regulation to lower DALY burden.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3C3C3C"/>
                </a:solidFill>
              </a:defRPr>
            </a:pPr>
            <a:r>
              <a:rPr sz="2800" dirty="0"/>
              <a:t>Weaker and more complex relationship for death rates.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3C3C3C"/>
                </a:solidFill>
              </a:defRPr>
            </a:pPr>
            <a:r>
              <a:rPr sz="2800" dirty="0"/>
              <a:t>Multiple country-level factors influence mortality beyond regulation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180844"/>
            <a:ext cx="10341164" cy="26168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3C3C3C"/>
                </a:solidFill>
              </a:defRPr>
            </a:pPr>
            <a:r>
              <a:rPr sz="2800" dirty="0"/>
              <a:t>Cross-sectional design (single year).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3C3C3C"/>
                </a:solidFill>
              </a:defRPr>
            </a:pPr>
            <a:r>
              <a:rPr sz="2800" dirty="0"/>
              <a:t>Binary regulation variable does not measure enforcement quality.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3C3C3C"/>
                </a:solidFill>
              </a:defRPr>
            </a:pPr>
            <a:r>
              <a:rPr sz="2800" dirty="0"/>
              <a:t>DALY and death rates reflect total lead exposure, not only paint.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3C3C3C"/>
                </a:solidFill>
              </a:defRPr>
            </a:pPr>
            <a:r>
              <a:rPr sz="2800" dirty="0"/>
              <a:t>Omitted variables such as income, age structure, and healthcare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93261"/>
            <a:ext cx="8772723" cy="22561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3C3C3C"/>
                </a:solidFill>
              </a:defRPr>
            </a:pPr>
            <a:r>
              <a:rPr sz="2400" dirty="0"/>
              <a:t>Lead paint regulation is strongly associated with lower DALY burden.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3C3C3C"/>
                </a:solidFill>
              </a:defRPr>
            </a:pPr>
            <a:r>
              <a:rPr sz="2400" dirty="0"/>
              <a:t>Evidence for death-rate reduction is weaker.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3C3C3C"/>
                </a:solidFill>
              </a:defRPr>
            </a:pPr>
            <a:r>
              <a:rPr sz="2400" dirty="0"/>
              <a:t>Results are associative, not causal.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  <a:defRPr sz="1800">
                <a:solidFill>
                  <a:srgbClr val="3C3C3C"/>
                </a:solidFill>
              </a:defRPr>
            </a:pPr>
            <a:r>
              <a:rPr sz="2400" dirty="0"/>
              <a:t>Findings motivate richer models and longitudinal analysis.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3137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03764"/>
                </a:solidFill>
              </a:defRPr>
            </a:pPr>
            <a:r>
              <a:rPr dirty="0"/>
              <a:t>References</a:t>
            </a:r>
            <a:r>
              <a:rPr lang="ar-LB" dirty="0"/>
              <a:t> </a:t>
            </a:r>
            <a:r>
              <a:rPr lang="en-US" dirty="0"/>
              <a:t>Included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410414" cy="19705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3C3C3C"/>
                </a:solidFill>
              </a:defRPr>
            </a:pPr>
            <a:r>
              <a:rPr sz="2800" dirty="0"/>
              <a:t>World Health Organization – Lead poisoning and lead paint regulation.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3C3C3C"/>
                </a:solidFill>
              </a:defRPr>
            </a:pPr>
            <a:r>
              <a:rPr sz="2800" dirty="0"/>
              <a:t>Our World in Data – Lead pollution and disease burden.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  <a:defRPr sz="1800">
                <a:solidFill>
                  <a:srgbClr val="3C3C3C"/>
                </a:solidFill>
              </a:defRPr>
            </a:pPr>
            <a:r>
              <a:rPr sz="2800" dirty="0"/>
              <a:t>IHME Global Burden of Disease Study 2023.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1516</TotalTime>
  <Words>492</Words>
  <Application>Microsoft Office PowerPoint</Application>
  <PresentationFormat>Custom</PresentationFormat>
  <Paragraphs>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Garamond</vt:lpstr>
      <vt:lpstr>Segoe UI Symbol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Mohamad Hijazi</dc:creator>
  <cp:keywords/>
  <dc:description>generated using python-pptx</dc:description>
  <cp:lastModifiedBy>Mohamad Hijazi</cp:lastModifiedBy>
  <cp:revision>6</cp:revision>
  <dcterms:created xsi:type="dcterms:W3CDTF">2026-05-11T14:18:22Z</dcterms:created>
  <dcterms:modified xsi:type="dcterms:W3CDTF">2026-05-13T15:25:54Z</dcterms:modified>
  <cp:category/>
</cp:coreProperties>
</file>