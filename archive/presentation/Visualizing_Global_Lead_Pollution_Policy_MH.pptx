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9" r:id="rId15"/>
    <p:sldId id="2574" r:id="rId16"/>
    <p:sldId id="2575" r:id="rId17"/>
    <p:sldId id="2576" r:id="rId18"/>
    <p:sldId id="2577" r:id="rId19"/>
    <p:sldId id="25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sualizing Global Lead Pollution Policy: A Comparative Study of Lead Paint Regulation" id="{0E03ADC6-293B-456A-AE1D-AE716D37533D}">
          <p14:sldIdLst>
            <p14:sldId id="2561"/>
          </p14:sldIdLst>
        </p14:section>
        <p14:section name="Introduction and Motivation" id="{18276361-D215-42C0-9DF6-C7C3F5A791FD}">
          <p14:sldIdLst>
            <p14:sldId id="2562"/>
            <p14:sldId id="2563"/>
          </p14:sldIdLst>
        </p14:section>
        <p14:section name="Problem Formulation and Task Abstraction" id="{F8A7331C-48E5-4399-9E58-28E597A23907}">
          <p14:sldIdLst>
            <p14:sldId id="2564"/>
            <p14:sldId id="2565"/>
          </p14:sldIdLst>
        </p14:section>
        <p14:section name="Data Description and Preparation" id="{583B47A8-0C78-434C-8280-7695A7D116BF}">
          <p14:sldIdLst>
            <p14:sldId id="2566"/>
            <p14:sldId id="2567"/>
          </p14:sldIdLst>
        </p14:section>
        <p14:section name="Dashboard Overview and Visual Architecture" id="{A9572B53-B662-4171-BECD-87E4E13370B6}">
          <p14:sldIdLst>
            <p14:sldId id="2568"/>
            <p14:sldId id="2569"/>
          </p14:sldIdLst>
        </p14:section>
        <p14:section name="Spatial and Comparative Visualizations" id="{8CC8FF03-5CE8-4BA0-80B2-CC47FF290A28}">
          <p14:sldIdLst>
            <p14:sldId id="2570"/>
            <p14:sldId id="2571"/>
          </p14:sldIdLst>
        </p14:section>
        <p14:section name="Relationship and Ranking Analyses" id="{7E6F5862-3037-40B5-8EE5-091581200221}">
          <p14:sldIdLst>
            <p14:sldId id="2572"/>
            <p14:sldId id="2573"/>
            <p14:sldId id="2579"/>
          </p14:sldIdLst>
        </p14:section>
        <p14:section name="Multivariate Regional Summary" id="{D2A4C039-C3BD-438A-9FE2-5FE419ECDA64}">
          <p14:sldIdLst>
            <p14:sldId id="2574"/>
            <p14:sldId id="2575"/>
          </p14:sldIdLst>
        </p14:section>
        <p14:section name="Validation, Insights, and Conclusion" id="{C77A7E0D-FCEA-49CE-9482-04A2ED898D8B}">
          <p14:sldIdLst>
            <p14:sldId id="2576"/>
            <p14:sldId id="2577"/>
            <p14:sldId id="25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96" autoAdjust="0"/>
    <p:restoredTop sz="94660"/>
  </p:normalViewPr>
  <p:slideViewPr>
    <p:cSldViewPr snapToGrid="0">
      <p:cViewPr varScale="1">
        <p:scale>
          <a:sx n="78" d="100"/>
          <a:sy n="78" d="100"/>
        </p:scale>
        <p:origin x="82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5BE179-5189-474B-877A-871A0DFC0979}" type="datetimeFigureOut">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C29018-CE4E-472B-A89C-34D75A12C868}" type="slidenum">
              <a:t>‹#›</a:t>
            </a:fld>
            <a:endParaRPr lang="en-US"/>
          </a:p>
        </p:txBody>
      </p:sp>
    </p:spTree>
    <p:extLst>
      <p:ext uri="{BB962C8B-B14F-4D97-AF65-F5344CB8AC3E}">
        <p14:creationId xmlns:p14="http://schemas.microsoft.com/office/powerpoint/2010/main" val="1368012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BA2C87B-BC2B-4FCF-90E4-20D25070E4B7}" type="slidenum">
              <a:t>1</a:t>
            </a:fld>
            <a:endParaRPr lang="en-US"/>
          </a:p>
        </p:txBody>
      </p:sp>
    </p:spTree>
    <p:extLst>
      <p:ext uri="{BB962C8B-B14F-4D97-AF65-F5344CB8AC3E}">
        <p14:creationId xmlns:p14="http://schemas.microsoft.com/office/powerpoint/2010/main" val="3408914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https://ghdx.healthdata.org/record/ihme-data/gbd-2023-lead-exposure-estimates-1990-2023,https://ourworldindata.org/grapher/legal-controls-lead-paint,https://www.sec.gov/Archives/edgar/data/1699963/000169996326000020/filename1.htm
Why Lead Paint Regulation Matters
</a:t>
            </a:r>
          </a:p>
        </p:txBody>
      </p:sp>
      <p:sp>
        <p:nvSpPr>
          <p:cNvPr id="4" name="Slide Number Placeholder 3"/>
          <p:cNvSpPr>
            <a:spLocks noGrp="1"/>
          </p:cNvSpPr>
          <p:nvPr>
            <p:ph type="sldNum" sz="quarter" idx="5"/>
          </p:nvPr>
        </p:nvSpPr>
        <p:spPr/>
        <p:txBody>
          <a:bodyPr/>
          <a:lstStyle/>
          <a:p>
            <a:fld id="{DBA2C87B-BC2B-4FCF-90E4-20D25070E4B7}" type="slidenum">
              <a:t>2</a:t>
            </a:fld>
            <a:endParaRPr lang="en-US"/>
          </a:p>
        </p:txBody>
      </p:sp>
    </p:spTree>
    <p:extLst>
      <p:ext uri="{BB962C8B-B14F-4D97-AF65-F5344CB8AC3E}">
        <p14:creationId xmlns:p14="http://schemas.microsoft.com/office/powerpoint/2010/main" val="4220146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https://ghdx.healthdata.org/record/ihme-data/gbd-2023-lead-exposure-estimates-1990-2023,https://ourworldindata.org/grapher/legal-controls-lead-paint,https://www.sec.gov/Archives/edgar/data/1699963/000169996326000020/filename1.htm
Lead pollution remains a critical but often under-recognized global public health challenge. Scientific and public-health institutions consistently emphasize that there is no known safe level of lead exposure, particularly for children, whose neurological development, cognitive function, and long-term wellbeing can be permanently affected. Among the many sources of lead exposure, lead-based paint stands out as one of the most preventable. Paint is widely used in homes, schools, and public spaces, and when it contains lead, it creates long-lasting exposure risks through dust, peeling surfaces, and environmental contamination. Despite decades of evidence and international advocacy, legally binding controls on lead paint remain uneven across the world. According to the World Health Organization, as of early 2024, fewer than half of all countries had confirmed laws regulating the production, import, sale, and use of lead paint. This uneven policy landscape creates geographic disparities in protection, leaving many populations exposed to avoidable health risks. The motivation for this project is therefore twofold. First, it seeks to make visible where regulatory protections exist and where they are absent, using spatial and comparative visualizations rather than static tables. Second, it aims to contextualize regulation status alongside health-burden indicators—specifically lead-attributable Disability-Adjusted Life Years (DALYs) and death rates—derived from the Global Burden of Disease Study. By integrating policy data with health outcomes, the project supports a richer, more nuanced understanding of global lead exposure. Importantly, the project adopts a careful interpretive stance: visual associations are presented to support exploration and insight generation, not to claim direct causality. This framing aligns with best practices in data visualization and public-health communication, emphasizing clarity, honesty, and responsible interpretation while demonstrating how visualization can elevate complex policy and health data into actionable knowledge.
</a:t>
            </a:r>
          </a:p>
        </p:txBody>
      </p:sp>
      <p:sp>
        <p:nvSpPr>
          <p:cNvPr id="4" name="Slide Number Placeholder 3"/>
          <p:cNvSpPr>
            <a:spLocks noGrp="1"/>
          </p:cNvSpPr>
          <p:nvPr>
            <p:ph type="sldNum" sz="quarter" idx="5"/>
          </p:nvPr>
        </p:nvSpPr>
        <p:spPr/>
        <p:txBody>
          <a:bodyPr/>
          <a:lstStyle/>
          <a:p>
            <a:fld id="{DBA2C87B-BC2B-4FCF-90E4-20D25070E4B7}" type="slidenum">
              <a:t>3</a:t>
            </a:fld>
            <a:endParaRPr lang="en-US"/>
          </a:p>
        </p:txBody>
      </p:sp>
    </p:spTree>
    <p:extLst>
      <p:ext uri="{BB962C8B-B14F-4D97-AF65-F5344CB8AC3E}">
        <p14:creationId xmlns:p14="http://schemas.microsoft.com/office/powerpoint/2010/main" val="3803507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auedu74602-my.sharepoint.com/personal/mohamad_hijazi05_lau_edu/Documents/Microsoft%20Copilot%20Chat%20Files/dashboard_visual_enhancements.py,https://lauedu74602-my.sharepoint.com/personal/mohamad_hijazi05_lau_edu/_layouts/15/Doc.aspx?sourcedoc=%7B4DAF4099-1CCA-45AB-8BB4-C5B1FD3F1B1B%7D&amp;file=Project%20-%20MH.docx&amp;action=default&amp;mobileredirect=true
From Policy Question to Visualization Tasks
</a:t>
            </a:r>
          </a:p>
        </p:txBody>
      </p:sp>
      <p:sp>
        <p:nvSpPr>
          <p:cNvPr id="4" name="Slide Number Placeholder 3"/>
          <p:cNvSpPr>
            <a:spLocks noGrp="1"/>
          </p:cNvSpPr>
          <p:nvPr>
            <p:ph type="sldNum" sz="quarter" idx="5"/>
          </p:nvPr>
        </p:nvSpPr>
        <p:spPr/>
        <p:txBody>
          <a:bodyPr/>
          <a:lstStyle/>
          <a:p>
            <a:fld id="{DBA2C87B-BC2B-4FCF-90E4-20D25070E4B7}" type="slidenum">
              <a:t>4</a:t>
            </a:fld>
            <a:endParaRPr lang="en-US"/>
          </a:p>
        </p:txBody>
      </p:sp>
    </p:spTree>
    <p:extLst>
      <p:ext uri="{BB962C8B-B14F-4D97-AF65-F5344CB8AC3E}">
        <p14:creationId xmlns:p14="http://schemas.microsoft.com/office/powerpoint/2010/main" val="1851690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auedu74602-my.sharepoint.com/personal/mohamad_hijazi05_lau_edu/Documents/Microsoft%20Copilot%20Chat%20Files/dashboard_visual_enhancements.py,https://lauedu74602-my.sharepoint.com/personal/mohamad_hijazi05_lau_edu/_layouts/15/Doc.aspx?sourcedoc=%7B4DAF4099-1CCA-45AB-8BB4-C5B1FD3F1B1B%7D&amp;file=Project%20-%20MH.docx&amp;action=default&amp;mobileredirect=true
The central analytical question guiding this project is how global lead paint regulation status can be effectively visualized and communicated, and how this policy information appears when examined alongside lead-attributable DALY and death-rate patterns across countries and regions. Translating this broad policy and health question into concrete visualization tasks is a critical step. The raw data involved are country-level, categorical, geographic, and quantitative, making them difficult to interpret through text or tables alone. Task abstraction enables the decomposition of the domain problem into a structured set of analytical goals that visual encodings can support. These tasks include categorical lookup, spatial pattern detection, quantitative comparison, regional aggregation, relationship exploration, ranking, and multivariate summarization. Each task maps directly to a visualization component in the dashboard. For example, identifying whether a country is regulated or not corresponds to a lookup task best served by a choropleth map. Detecting geographic gaps in regulation aligns with spatial pattern recognition, again supported by mapping. Comparing how many countries are regulated versus not regulated is a categorical comparison task, addressed through bar charts and KPI cards. Regional differences in regulation coverage require proportional comparison, motivating a 100% stacked bar chart. Exploring how DALY rates relate to death rates is a relationship task, for which a scatterplot with trend lines is appropriate. Ranking countries by burden aligns with ordered comparison, implemented through lollipop charts. Finally, comparing regions across multiple indicators requires multivariate summarization, addressed through a normalized heatmap. This structured task abstraction ensures that each visualization is purpose-driven rather than decorative. It also provides a clear rationale for chart selection, aligning with the course emphasis on formal abstraction, analytical clarity, and cognitive efficiency. By explicitly mapping questions to tasks and tasks to visuals, the dashboard forms a coherent analytical workflow that guides users from overview to detail and from exploration to insight.
</a:t>
            </a:r>
          </a:p>
        </p:txBody>
      </p:sp>
      <p:sp>
        <p:nvSpPr>
          <p:cNvPr id="4" name="Slide Number Placeholder 3"/>
          <p:cNvSpPr>
            <a:spLocks noGrp="1"/>
          </p:cNvSpPr>
          <p:nvPr>
            <p:ph type="sldNum" sz="quarter" idx="5"/>
          </p:nvPr>
        </p:nvSpPr>
        <p:spPr/>
        <p:txBody>
          <a:bodyPr/>
          <a:lstStyle/>
          <a:p>
            <a:fld id="{DBA2C87B-BC2B-4FCF-90E4-20D25070E4B7}" type="slidenum">
              <a:t>5</a:t>
            </a:fld>
            <a:endParaRPr lang="en-US"/>
          </a:p>
        </p:txBody>
      </p:sp>
    </p:spTree>
    <p:extLst>
      <p:ext uri="{BB962C8B-B14F-4D97-AF65-F5344CB8AC3E}">
        <p14:creationId xmlns:p14="http://schemas.microsoft.com/office/powerpoint/2010/main" val="3149555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https://iris.who.int/server/api/core/bitstreams/6bd617d9-cc9b-4626-aa90-5a27901a837a/content,https://lauedu74602-my.sharepoint.com/personal/mohamad_hijazi05_lau_edu/Documents/Microsoft%20Copilot%20Chat%20Files/DSC604_Summary_Sp2026.pdf
Integrating Policy and Health-Burden Data
</a:t>
            </a:r>
          </a:p>
        </p:txBody>
      </p:sp>
      <p:sp>
        <p:nvSpPr>
          <p:cNvPr id="4" name="Slide Number Placeholder 3"/>
          <p:cNvSpPr>
            <a:spLocks noGrp="1"/>
          </p:cNvSpPr>
          <p:nvPr>
            <p:ph type="sldNum" sz="quarter" idx="5"/>
          </p:nvPr>
        </p:nvSpPr>
        <p:spPr/>
        <p:txBody>
          <a:bodyPr/>
          <a:lstStyle/>
          <a:p>
            <a:fld id="{DBA2C87B-BC2B-4FCF-90E4-20D25070E4B7}" type="slidenum">
              <a:t>6</a:t>
            </a:fld>
            <a:endParaRPr lang="en-US"/>
          </a:p>
        </p:txBody>
      </p:sp>
    </p:spTree>
    <p:extLst>
      <p:ext uri="{BB962C8B-B14F-4D97-AF65-F5344CB8AC3E}">
        <p14:creationId xmlns:p14="http://schemas.microsoft.com/office/powerpoint/2010/main" val="2175569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https://iris.who.int/server/api/core/bitstreams/6bd617d9-cc9b-4626-aa90-5a27901a837a/content,https://lauedu74602-my.sharepoint.com/personal/mohamad_hijazi05_lau_edu/Documents/Microsoft%20Copilot%20Chat%20Files/DSC604_Summary_Sp2026.pdf
This project integrates two authoritative open datasets to support its analysis. The first is the Our World in Data dataset on legally binding controls on lead paint, which records whether each country has adopted laws regulating lead paint. This dataset provides a clear, binary policy indicator—Yes or No—that is well suited for categorical and spatial visualization. The second dataset comes from the Institute for Health Metrics and Evaluation’s Global Burden of Disease (GBD) 2023 study, which provides country-level estimates of lead-attributable death rates and DALY rates. DALYs represent the total burden of disease by combining years of life lost due to premature mortality and years lived with disability, making them a comprehensive indicator of health impact. Preparing these datasets for visualization required careful preprocessing. The IHME data were filtered to the year 2023, all ages, both sexes, and rate-based metrics to ensure comparability across countries. Because the GBD dataset is structured in long format, deaths and DALYs were extracted separately and merged into a single wide table keyed by country. A major challenge involved harmonizing country names between datasets, as the IHME and OWID sources use different naming conventions. A crosswalk was implemented to align names such as “Russian Federation” with “Russia” and “Lao People’s Democratic Republic” with “Laos.” ISO-3 country codes were cleaned and corrected where necessary, including special cases such as Timor-Leste. Regional information was not present in the original datasets, so continent-level regions were derived from ISO codes using pycountry and pycountry_convert libraries, with manual overrides for edge cases. The final processed dataset contains one row per country with policy status, region, and health-burden indicators, saved as a reproducible CSV file. This rigorous preparation step underpins the validity of the visualizations and ensures that subsequent comparisons are meaningful and transparent.
</a:t>
            </a:r>
          </a:p>
        </p:txBody>
      </p:sp>
      <p:sp>
        <p:nvSpPr>
          <p:cNvPr id="4" name="Slide Number Placeholder 3"/>
          <p:cNvSpPr>
            <a:spLocks noGrp="1"/>
          </p:cNvSpPr>
          <p:nvPr>
            <p:ph type="sldNum" sz="quarter" idx="5"/>
          </p:nvPr>
        </p:nvSpPr>
        <p:spPr/>
        <p:txBody>
          <a:bodyPr/>
          <a:lstStyle/>
          <a:p>
            <a:fld id="{DBA2C87B-BC2B-4FCF-90E4-20D25070E4B7}" type="slidenum">
              <a:t>7</a:t>
            </a:fld>
            <a:endParaRPr lang="en-US"/>
          </a:p>
        </p:txBody>
      </p:sp>
    </p:spTree>
    <p:extLst>
      <p:ext uri="{BB962C8B-B14F-4D97-AF65-F5344CB8AC3E}">
        <p14:creationId xmlns:p14="http://schemas.microsoft.com/office/powerpoint/2010/main" val="3455830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https://lauedu74602-my.sharepoint.com/personal/mohamad_hijazi05_lau_edu/Documents/Microsoft%20Copilot%20Chat%20Files/ProjectProposal%20-%20MH.pdf
Overview-First Interactive Design
</a:t>
            </a:r>
          </a:p>
        </p:txBody>
      </p:sp>
      <p:sp>
        <p:nvSpPr>
          <p:cNvPr id="4" name="Slide Number Placeholder 3"/>
          <p:cNvSpPr>
            <a:spLocks noGrp="1"/>
          </p:cNvSpPr>
          <p:nvPr>
            <p:ph type="sldNum" sz="quarter" idx="5"/>
          </p:nvPr>
        </p:nvSpPr>
        <p:spPr/>
        <p:txBody>
          <a:bodyPr/>
          <a:lstStyle/>
          <a:p>
            <a:fld id="{DBA2C87B-BC2B-4FCF-90E4-20D25070E4B7}" type="slidenum">
              <a:t>8</a:t>
            </a:fld>
            <a:endParaRPr lang="en-US"/>
          </a:p>
        </p:txBody>
      </p:sp>
    </p:spTree>
    <p:extLst>
      <p:ext uri="{BB962C8B-B14F-4D97-AF65-F5344CB8AC3E}">
        <p14:creationId xmlns:p14="http://schemas.microsoft.com/office/powerpoint/2010/main" val="3603883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https://lauedu74602-my.sharepoint.com/personal/mohamad_hijazi05_lau_edu/Documents/Microsoft%20Copilot%20Chat%20Files/ProjectProposal%20-%20MH.pdf
The dashboard was implemented using Python with Dash and Plotly, emphasizing modular design and clear separation between data preparation and visualization logic. The processed dataset is loaded once and then reused across all visual components, ensuring consistency in counts, categories, and metrics. The layout follows an overview-first principle: users are initially presented with KPI cards summarizing the total number of countries, the number with and without regulation, and average DALY and death rates. This high-level context prepares users for deeper exploration. Below the KPIs, the dashboard presents a sequence of coordinated views, including a global choropleth map, categorical bar charts, regional comparisons, relationship plots, rankings, and a regional heatmap. Visual hierarchy, spacing, and consistent color semantics are used throughout to reduce cognitive load. Blue is consistently used to represent regulated countries, while red indicates not regulated countries, supporting rapid categorical recognition. Interactive features such as tooltips allow users to inspect individual countries without cluttering the main view. Responsiveness and layout adjustments ensure that charts remain readable across different screen sizes. Importantly, the dashboard includes explicit framing notes clarifying that observed patterns represent associations rather than causal effects. This design choice reinforces ethical visualization practice by preventing overinterpretation. Overall, the dashboard architecture demonstrates how multiple visualization structures can be orchestrated into a coherent analytical interface, guiding users from global overview to specific insights while maintaining visual consistency and analytical rigor.
</a:t>
            </a:r>
          </a:p>
        </p:txBody>
      </p:sp>
      <p:sp>
        <p:nvSpPr>
          <p:cNvPr id="4" name="Slide Number Placeholder 3"/>
          <p:cNvSpPr>
            <a:spLocks noGrp="1"/>
          </p:cNvSpPr>
          <p:nvPr>
            <p:ph type="sldNum" sz="quarter" idx="5"/>
          </p:nvPr>
        </p:nvSpPr>
        <p:spPr/>
        <p:txBody>
          <a:bodyPr/>
          <a:lstStyle/>
          <a:p>
            <a:fld id="{DBA2C87B-BC2B-4FCF-90E4-20D25070E4B7}" type="slidenum">
              <a:t>9</a:t>
            </a:fld>
            <a:endParaRPr lang="en-US"/>
          </a:p>
        </p:txBody>
      </p:sp>
    </p:spTree>
    <p:extLst>
      <p:ext uri="{BB962C8B-B14F-4D97-AF65-F5344CB8AC3E}">
        <p14:creationId xmlns:p14="http://schemas.microsoft.com/office/powerpoint/2010/main" val="2482615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https://iris.who.int/server/api/core/bitstreams/6bd617d9-cc9b-4626-aa90-5a27901a837a/content
Maps, Counts, and Regional Comparisons
</a:t>
            </a:r>
          </a:p>
        </p:txBody>
      </p:sp>
      <p:sp>
        <p:nvSpPr>
          <p:cNvPr id="4" name="Slide Number Placeholder 3"/>
          <p:cNvSpPr>
            <a:spLocks noGrp="1"/>
          </p:cNvSpPr>
          <p:nvPr>
            <p:ph type="sldNum" sz="quarter" idx="5"/>
          </p:nvPr>
        </p:nvSpPr>
        <p:spPr/>
        <p:txBody>
          <a:bodyPr/>
          <a:lstStyle/>
          <a:p>
            <a:fld id="{DBA2C87B-BC2B-4FCF-90E4-20D25070E4B7}" type="slidenum">
              <a:t>10</a:t>
            </a:fld>
            <a:endParaRPr lang="en-US"/>
          </a:p>
        </p:txBody>
      </p:sp>
    </p:spTree>
    <p:extLst>
      <p:ext uri="{BB962C8B-B14F-4D97-AF65-F5344CB8AC3E}">
        <p14:creationId xmlns:p14="http://schemas.microsoft.com/office/powerpoint/2010/main" val="3429200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https://iris.who.int/server/api/core/bitstreams/6bd617d9-cc9b-4626-aa90-5a27901a837a/content
Spatial and comparative views form the backbone of the dashboard’s policy analysis. The choropleth world map uses country polygons colored by regulation status to reveal where legally binding lead paint controls exist and where major gaps remain. Geographic position combined with color hue is highly effective for spatial pattern detection, enabling users to quickly identify clusters of regulated and unregulated countries. Complementing the map, a bar chart summarizes the total number of countries with and without regulation, directly answering the question of how widespread lead paint laws are globally. This categorical comparison uses bar length on a common baseline, one of the most perceptually accurate encodings for quantity. To extend the analysis to the regional level, a horizontal 100% stacked bar chart shows the proportion of regulated versus unregulated countries within each continent. Regions are sorted by the percentage of regulated countries, allowing immediate identification of disparities. The horizontal orientation avoids rotated labels and improves readability, especially for long region names. Together, these three views—map, count bar chart, and regional stacked bar—provide complementary perspectives on the same policy data. The map emphasizes geography, the bar chart emphasizes magnitude, and the regional chart emphasizes proportional comparison. This combination illustrates how multiple coordinated views can collectively support deeper understanding than any single chart alone.
Global choropleth map illustrating which countries have legally binding controls on lead paint, highlighting geographic disparities in policy coverage.
</a:t>
            </a:r>
          </a:p>
        </p:txBody>
      </p:sp>
      <p:sp>
        <p:nvSpPr>
          <p:cNvPr id="4" name="Slide Number Placeholder 3"/>
          <p:cNvSpPr>
            <a:spLocks noGrp="1"/>
          </p:cNvSpPr>
          <p:nvPr>
            <p:ph type="sldNum" sz="quarter" idx="5"/>
          </p:nvPr>
        </p:nvSpPr>
        <p:spPr/>
        <p:txBody>
          <a:bodyPr/>
          <a:lstStyle/>
          <a:p>
            <a:fld id="{DBA2C87B-BC2B-4FCF-90E4-20D25070E4B7}" type="slidenum">
              <a:t>11</a:t>
            </a:fld>
            <a:endParaRPr lang="en-US"/>
          </a:p>
        </p:txBody>
      </p:sp>
    </p:spTree>
    <p:extLst>
      <p:ext uri="{BB962C8B-B14F-4D97-AF65-F5344CB8AC3E}">
        <p14:creationId xmlns:p14="http://schemas.microsoft.com/office/powerpoint/2010/main" val="3552434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https://lauedu74602-my.sharepoint.com/personal/mohamad_hijazi05_lau_edu/Documents/Microsoft%20Copilot%20Chat%20Files/Dashboard.html
DALY–Death Relationships and High-Burden Countries
</a:t>
            </a:r>
          </a:p>
        </p:txBody>
      </p:sp>
      <p:sp>
        <p:nvSpPr>
          <p:cNvPr id="4" name="Slide Number Placeholder 3"/>
          <p:cNvSpPr>
            <a:spLocks noGrp="1"/>
          </p:cNvSpPr>
          <p:nvPr>
            <p:ph type="sldNum" sz="quarter" idx="5"/>
          </p:nvPr>
        </p:nvSpPr>
        <p:spPr/>
        <p:txBody>
          <a:bodyPr/>
          <a:lstStyle/>
          <a:p>
            <a:fld id="{DBA2C87B-BC2B-4FCF-90E4-20D25070E4B7}" type="slidenum">
              <a:t>12</a:t>
            </a:fld>
            <a:endParaRPr lang="en-US"/>
          </a:p>
        </p:txBody>
      </p:sp>
    </p:spTree>
    <p:extLst>
      <p:ext uri="{BB962C8B-B14F-4D97-AF65-F5344CB8AC3E}">
        <p14:creationId xmlns:p14="http://schemas.microsoft.com/office/powerpoint/2010/main" val="1131264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https://lauedu74602-my.sharepoint.com/personal/mohamad_hijazi05_lau_edu/Documents/Microsoft%20Copilot%20Chat%20Files/Dashboard.html
Beyond policy coverage, the dashboard explores how lead paint regulation status appears alongside lead-attributable health outcomes. A scatterplot plots DALY rate against death rate for each country, using position on two quantitative axes to reveal the relationship between these indicators. Color hue encodes regulation status, enabling visual comparison between regulated and not regulated countries within the same relationship space. A fitted trend line highlights the overall positive association: countries with higher DALY rates tend to also have higher death rates, reflecting the shared burden captured by these metrics. However, the scatterplot also reveals substantial variation, underscoring that regulation status alone does not determine health outcomes. To focus attention on extremes, ranked lollipop charts display the countries with the highest DALY rates and the highest death rates. Lollipop charts were chosen over full bar charts to reduce visual weight while preserving precise positional encoding. Direct value labels next to points reduce reliance on tooltips and improve readability. Color again indicates regulation status, making it clear that some of the highest-burden countries are regulated while others are not. These views collectively support nuanced interpretation: they highlight where lead-related health burdens are greatest while reinforcing the importance of cautious, non-causal analysis. By juxtaposing policy status with outcome indicators, the dashboard encourages users to think critically about the complexity of environmental health challenges.
Scatterplot showing the relationship between lead-attributable DALY rate and death rate, with points colored by regulation status.
</a:t>
            </a:r>
          </a:p>
        </p:txBody>
      </p:sp>
      <p:sp>
        <p:nvSpPr>
          <p:cNvPr id="4" name="Slide Number Placeholder 3"/>
          <p:cNvSpPr>
            <a:spLocks noGrp="1"/>
          </p:cNvSpPr>
          <p:nvPr>
            <p:ph type="sldNum" sz="quarter" idx="5"/>
          </p:nvPr>
        </p:nvSpPr>
        <p:spPr/>
        <p:txBody>
          <a:bodyPr/>
          <a:lstStyle/>
          <a:p>
            <a:fld id="{DBA2C87B-BC2B-4FCF-90E4-20D25070E4B7}" type="slidenum">
              <a:t>13</a:t>
            </a:fld>
            <a:endParaRPr lang="en-US"/>
          </a:p>
        </p:txBody>
      </p:sp>
    </p:spTree>
    <p:extLst>
      <p:ext uri="{BB962C8B-B14F-4D97-AF65-F5344CB8AC3E}">
        <p14:creationId xmlns:p14="http://schemas.microsoft.com/office/powerpoint/2010/main" val="2987801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Regional Heatmap of Policy and Burden</a:t>
            </a:r>
          </a:p>
        </p:txBody>
      </p:sp>
      <p:sp>
        <p:nvSpPr>
          <p:cNvPr id="4" name="Slide Number Placeholder 3"/>
          <p:cNvSpPr>
            <a:spLocks noGrp="1"/>
          </p:cNvSpPr>
          <p:nvPr>
            <p:ph type="sldNum" sz="quarter" idx="5"/>
          </p:nvPr>
        </p:nvSpPr>
        <p:spPr/>
        <p:txBody>
          <a:bodyPr/>
          <a:lstStyle/>
          <a:p>
            <a:fld id="{DBA2C87B-BC2B-4FCF-90E4-20D25070E4B7}" type="slidenum">
              <a:t>15</a:t>
            </a:fld>
            <a:endParaRPr lang="en-US"/>
          </a:p>
        </p:txBody>
      </p:sp>
    </p:spTree>
    <p:extLst>
      <p:ext uri="{BB962C8B-B14F-4D97-AF65-F5344CB8AC3E}">
        <p14:creationId xmlns:p14="http://schemas.microsoft.com/office/powerpoint/2010/main" val="3278140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synthesize multiple indicators at the regional level, the dashboard includes a regional heatmap that summarizes regulation share, average DALY rate, and average death rate for each continent. Heatmaps are well suited for compact multivariate comparison, allowing users to scan patterns across rows and columns. In this case, each cell represents a region–indicator combination. Because the indicators have different units and scales, values are normalized within each indicator before being mapped to color intensity. This normalization prevents misleading comparisons that could arise from directly encoding raw values of incomparable metrics. At the same time, actual values are displayed as text within each cell, preserving transparency and interpretability. The heatmap reveals patterns that are less obvious in single-indicator charts, such as regions that combine relatively high regulation coverage with moderate or high health burdens, or regions with low regulation and high burden. By presenting policy and outcome indicators together, the heatmap supports holistic regional assessment and reinforces the value of integrated visualization approaches. This multivariate summary aligns with the project’s goal of moving beyond isolated charts toward richer analytical insight.
Regional heatmap summarizing percentage of countries with regulation, average DALY rate, and average death rate, with normalized color intensity and displayed actual values.</a:t>
            </a:r>
          </a:p>
        </p:txBody>
      </p:sp>
      <p:sp>
        <p:nvSpPr>
          <p:cNvPr id="4" name="Slide Number Placeholder 3"/>
          <p:cNvSpPr>
            <a:spLocks noGrp="1"/>
          </p:cNvSpPr>
          <p:nvPr>
            <p:ph type="sldNum" sz="quarter" idx="5"/>
          </p:nvPr>
        </p:nvSpPr>
        <p:spPr/>
        <p:txBody>
          <a:bodyPr/>
          <a:lstStyle/>
          <a:p>
            <a:fld id="{DBA2C87B-BC2B-4FCF-90E4-20D25070E4B7}" type="slidenum">
              <a:t>16</a:t>
            </a:fld>
            <a:endParaRPr lang="en-US"/>
          </a:p>
        </p:txBody>
      </p:sp>
    </p:spTree>
    <p:extLst>
      <p:ext uri="{BB962C8B-B14F-4D97-AF65-F5344CB8AC3E}">
        <p14:creationId xmlns:p14="http://schemas.microsoft.com/office/powerpoint/2010/main" val="221218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https://lauedu74602-my.sharepoint.com/personal/mohamad_hijazi05_lau_edu/Documents/Microsoft%20Copilot%20Chat%20Files/dashboard_visual_enhancements.py
Key Insights, Limitations, and Takeaways
</a:t>
            </a:r>
          </a:p>
        </p:txBody>
      </p:sp>
      <p:sp>
        <p:nvSpPr>
          <p:cNvPr id="4" name="Slide Number Placeholder 3"/>
          <p:cNvSpPr>
            <a:spLocks noGrp="1"/>
          </p:cNvSpPr>
          <p:nvPr>
            <p:ph type="sldNum" sz="quarter" idx="5"/>
          </p:nvPr>
        </p:nvSpPr>
        <p:spPr/>
        <p:txBody>
          <a:bodyPr/>
          <a:lstStyle/>
          <a:p>
            <a:fld id="{DBA2C87B-BC2B-4FCF-90E4-20D25070E4B7}" type="slidenum">
              <a:t>17</a:t>
            </a:fld>
            <a:endParaRPr lang="en-US"/>
          </a:p>
        </p:txBody>
      </p:sp>
    </p:spTree>
    <p:extLst>
      <p:ext uri="{BB962C8B-B14F-4D97-AF65-F5344CB8AC3E}">
        <p14:creationId xmlns:p14="http://schemas.microsoft.com/office/powerpoint/2010/main" val="2481878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https://lauedu74602-my.sharepoint.com/personal/mohamad_hijazi05_lau_edu/Documents/Microsoft%20Copilot%20Chat%20Files/dashboard_visual_enhancements.py
The project applies validation at multiple levels to ensure analytical and visual soundness. Data validation involved careful harmonization of country names, ISO codes, and regional derivations to support accurate mapping and aggregation. Task validation ensured that each visualization directly supports a defined analytical goal, from spatial detection to ranking and multivariate comparison. Encoding validation emphasized perceptual effectiveness, favoring position and length for quantitative comparisons and hue for categorical distinctions. Interpretation validation was addressed through explicit non-causal framing notes embedded in the dashboard. The resulting insights are both substantive and nuanced. Globally, lead paint regulation is clearly uneven, with substantial regional disparities. Europe and South America show high regulation coverage, while other regions lag behind. Health-burden patterns do not align perfectly with regulation status, underscoring that legal controls are necessary but not sufficient to eliminate lead exposure risks. DALY and death rates are positively related, reinforcing their joint interpretation as burden indicators. At the same time, the project acknowledges important limitations. Regulation status is binary and does not capture enforcement strength or policy quality, and lead-attributable health outcomes reflect multiple exposure sources beyond paint. In conclusion, this project demonstrates how principled data visualization can transform complex policy and health data into an accessible analytical narrative. By integrating spatial, comparative, relational, and multivariate views within a coherent dashboard, the project fulfills the course goals of abstraction, encoding justification, validation reasoning, and insight generation, while maintaining responsible and transparent interpretation.
</a:t>
            </a:r>
          </a:p>
        </p:txBody>
      </p:sp>
      <p:sp>
        <p:nvSpPr>
          <p:cNvPr id="4" name="Slide Number Placeholder 3"/>
          <p:cNvSpPr>
            <a:spLocks noGrp="1"/>
          </p:cNvSpPr>
          <p:nvPr>
            <p:ph type="sldNum" sz="quarter" idx="5"/>
          </p:nvPr>
        </p:nvSpPr>
        <p:spPr/>
        <p:txBody>
          <a:bodyPr/>
          <a:lstStyle/>
          <a:p>
            <a:fld id="{DBA2C87B-BC2B-4FCF-90E4-20D25070E4B7}" type="slidenum">
              <a:t>18</a:t>
            </a:fld>
            <a:endParaRPr lang="en-US"/>
          </a:p>
        </p:txBody>
      </p:sp>
    </p:spTree>
    <p:extLst>
      <p:ext uri="{BB962C8B-B14F-4D97-AF65-F5344CB8AC3E}">
        <p14:creationId xmlns:p14="http://schemas.microsoft.com/office/powerpoint/2010/main" val="1322709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5/13/2026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628735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5/13/2026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5415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5/13/2026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837900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5/13/2026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109608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5/13/2026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161963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5/13/2026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77138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5/13/2026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258320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5/13/2026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094596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5/13/2026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713883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a:gsLst>
            <a:gs pos="0">
              <a:schemeClr val="accent1">
                <a:lumMod val="5000"/>
                <a:lumOff val="95000"/>
              </a:schemeClr>
            </a:gs>
            <a:gs pos="2000">
              <a:schemeClr val="accent1">
                <a:lumMod val="45000"/>
                <a:lumOff val="55000"/>
              </a:schemeClr>
            </a:gs>
            <a:gs pos="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100000"/>
              </a:lnSpc>
              <a:defRPr sz="12300">
                <a:solidFill>
                  <a:schemeClr val="tx2"/>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5/13/2026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241F433-FE25-2FFD-EA61-5CC15D33E516}"/>
              </a:ext>
            </a:extLst>
          </p:cNvPr>
          <p:cNvSpPr txBox="1"/>
          <p:nvPr userDrawn="1"/>
        </p:nvSpPr>
        <p:spPr>
          <a:xfrm>
            <a:off x="64008" y="252010"/>
            <a:ext cx="6493162" cy="369332"/>
          </a:xfrm>
          <a:prstGeom prst="rect">
            <a:avLst/>
          </a:prstGeom>
          <a:noFill/>
        </p:spPr>
        <p:txBody>
          <a:bodyPr wrap="square">
            <a:spAutoFit/>
          </a:bodyPr>
          <a:lstStyle/>
          <a:p>
            <a:r>
              <a:rPr lang="en-US" dirty="0"/>
              <a:t>Data Visualization DSC614</a:t>
            </a:r>
            <a:endParaRPr lang="en-US" sz="2400" dirty="0"/>
          </a:p>
        </p:txBody>
      </p:sp>
    </p:spTree>
    <p:extLst>
      <p:ext uri="{BB962C8B-B14F-4D97-AF65-F5344CB8AC3E}">
        <p14:creationId xmlns:p14="http://schemas.microsoft.com/office/powerpoint/2010/main" val="234756200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100000"/>
              </a:lnSpc>
              <a:defRPr sz="10300">
                <a:solidFill>
                  <a:schemeClr val="accent1"/>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5/13/2026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82944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Autofit/>
          </a:bodyPr>
          <a:lstStyle>
            <a:lvl1pPr>
              <a:lnSpc>
                <a:spcPct val="100000"/>
              </a:lnSpc>
              <a:defRPr sz="5400">
                <a:solidFill>
                  <a:schemeClr val="accent1"/>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5/13/2026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80013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Autofit/>
          </a:bodyPr>
          <a:lstStyle>
            <a:lvl1pPr>
              <a:lnSpc>
                <a:spcPct val="100000"/>
              </a:lnSpc>
              <a:defRPr sz="4800">
                <a:solidFill>
                  <a:schemeClr val="accent1"/>
                </a:solidFill>
                <a:latin typeface="Segoe UI" panose="020B0502040204020203" pitchFamily="34" charset="0"/>
                <a:cs typeface="Segoe UI" panose="020B0502040204020203" pitchFamily="34" charset="0"/>
              </a:defRPr>
            </a:lvl1pPr>
          </a:lstStyle>
          <a:p>
            <a:r>
              <a:rPr lang="en-US" dirty="0"/>
              <a:t>Click to edit Master title style</a:t>
            </a:r>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985548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5/13/2026</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0878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5/13/2026</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28958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5/13/2026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96361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5/13/2026</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1655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5/13/2026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9045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5/13/2026</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00781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5/13/2026</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6135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5/13/2026</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87822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998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13702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5/13/2026</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01311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Autofit/>
          </a:bodyPr>
          <a:lstStyle>
            <a:lvl1pPr>
              <a:lnSpc>
                <a:spcPct val="100000"/>
              </a:lnSpc>
              <a:defRPr lang="en-US" sz="3200" dirty="0">
                <a:latin typeface="Segoe UI" panose="020B0502040204020203" pitchFamily="34" charset="0"/>
                <a:cs typeface="Segoe UI" panose="020B0502040204020203" pitchFamily="34" charset="0"/>
              </a:defRPr>
            </a:lvl1pPr>
          </a:lstStyle>
          <a:p>
            <a:pPr lvl="0"/>
            <a:r>
              <a:rPr lang="en-US" dirty="0"/>
              <a:t>Click to edit Master title style</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5/13/2026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7215316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26048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54233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Autofit/>
          </a:bodyPr>
          <a:lstStyle>
            <a:lvl1pPr>
              <a:lnSpc>
                <a:spcPct val="100000"/>
              </a:lnSpc>
              <a:defRPr lang="en-US" sz="3200" dirty="0">
                <a:latin typeface="Segoe UI" panose="020B0502040204020203" pitchFamily="34" charset="0"/>
                <a:cs typeface="Segoe UI" panose="020B0502040204020203" pitchFamily="34" charset="0"/>
              </a:defRPr>
            </a:lvl1pPr>
          </a:lstStyle>
          <a:p>
            <a:pPr lvl="0"/>
            <a:r>
              <a:rPr lang="en-US" dirty="0"/>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24316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50121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5/13/2026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12004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5/13/2026</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47074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5/13/2026</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26016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16085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32421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91422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60227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5/13/2026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94095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Autofit/>
          </a:bodyPr>
          <a:lstStyle>
            <a:lvl1pPr>
              <a:lnSpc>
                <a:spcPct val="100000"/>
              </a:lnSpc>
              <a:defRPr lang="en-US" sz="4400" dirty="0">
                <a:latin typeface="Segoe UI" panose="020B0502040204020203" pitchFamily="34" charset="0"/>
                <a:cs typeface="Segoe UI" panose="020B0502040204020203" pitchFamily="34" charset="0"/>
              </a:defRPr>
            </a:lvl1pPr>
          </a:lstStyle>
          <a:p>
            <a:pPr lvl="0"/>
            <a:r>
              <a:rPr lang="en-US" dirty="0"/>
              <a:t>Click to edit Master title style</a:t>
            </a:r>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5/13/2026</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3342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51606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9182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06257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9148037"/>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803725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34149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685038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5/13/2026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768009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5/13/2026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332837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5/13/2026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727324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5/13/2026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150609"/>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8549883"/>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9748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5642821"/>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22286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5/13/2026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73613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5/13/2026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211196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5/13/2026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7802981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5/13/2026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2256703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5/13/2026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66813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5/13/2026</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01246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364916"/>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5/13/2026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483074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dirty="0"/>
              <a:t>Data Visualization DSC614</a:t>
            </a:r>
            <a:endParaRPr lang="en-US" sz="1050" dirty="0"/>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5/13/2026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873566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8.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2.xml"/><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26301-748D-56C1-2C2C-3E6E6C26CD38}"/>
              </a:ext>
            </a:extLst>
          </p:cNvPr>
          <p:cNvSpPr>
            <a:spLocks noGrp="1"/>
          </p:cNvSpPr>
          <p:nvPr>
            <p:ph type="ctrTitle"/>
          </p:nvPr>
        </p:nvSpPr>
        <p:spPr>
          <a:xfrm>
            <a:off x="320040" y="1426464"/>
            <a:ext cx="11173870" cy="4183468"/>
          </a:xfrm>
        </p:spPr>
        <p:txBody>
          <a:bodyPr anchor="b">
            <a:noAutofit/>
          </a:bodyPr>
          <a:lstStyle/>
          <a:p>
            <a:pPr algn="ctr">
              <a:lnSpc>
                <a:spcPct val="100000"/>
              </a:lnSpc>
            </a:pPr>
            <a:r>
              <a:rPr lang="en-US" sz="6600" dirty="0">
                <a:latin typeface="Segoe UI" panose="020B0502040204020203" pitchFamily="34" charset="0"/>
                <a:cs typeface="Segoe UI" panose="020B0502040204020203" pitchFamily="34" charset="0"/>
              </a:rPr>
              <a:t>Visualizing Global Lead Pollution Policy</a:t>
            </a:r>
            <a:br>
              <a:rPr lang="en-US" sz="6000" dirty="0">
                <a:latin typeface="Segoe UI" panose="020B0502040204020203" pitchFamily="34" charset="0"/>
                <a:cs typeface="Segoe UI" panose="020B0502040204020203" pitchFamily="34" charset="0"/>
              </a:rPr>
            </a:br>
            <a:r>
              <a:rPr lang="en-US" sz="4800" dirty="0">
                <a:latin typeface="Segoe UI" panose="020B0502040204020203" pitchFamily="34" charset="0"/>
                <a:cs typeface="Segoe UI" panose="020B0502040204020203" pitchFamily="34" charset="0"/>
              </a:rPr>
              <a:t>A Comparative Study of Lead Paint Regulation</a:t>
            </a:r>
            <a:endParaRPr lang="en-US" sz="6000" dirty="0">
              <a:latin typeface="Segoe UI" panose="020B0502040204020203" pitchFamily="34" charset="0"/>
              <a:cs typeface="Segoe UI" panose="020B0502040204020203" pitchFamily="34" charset="0"/>
            </a:endParaRPr>
          </a:p>
        </p:txBody>
      </p:sp>
      <p:sp>
        <p:nvSpPr>
          <p:cNvPr id="3" name="Subtitle 2">
            <a:extLst>
              <a:ext uri="{FF2B5EF4-FFF2-40B4-BE49-F238E27FC236}">
                <a16:creationId xmlns:a16="http://schemas.microsoft.com/office/drawing/2014/main" id="{A081B3A7-F80C-A436-964A-EE30787E5D97}"/>
              </a:ext>
            </a:extLst>
          </p:cNvPr>
          <p:cNvSpPr>
            <a:spLocks noGrp="1"/>
          </p:cNvSpPr>
          <p:nvPr>
            <p:ph type="subTitle" idx="1"/>
          </p:nvPr>
        </p:nvSpPr>
        <p:spPr>
          <a:xfrm>
            <a:off x="320039" y="5779008"/>
            <a:ext cx="9528047" cy="923544"/>
          </a:xfrm>
        </p:spPr>
        <p:txBody>
          <a:bodyPr>
            <a:normAutofit/>
          </a:bodyPr>
          <a:lstStyle/>
          <a:p>
            <a:r>
              <a:rPr lang="en-US" dirty="0"/>
              <a:t>Analyzing worldwide regulations on lead paint safety</a:t>
            </a:r>
          </a:p>
        </p:txBody>
      </p:sp>
      <p:sp>
        <p:nvSpPr>
          <p:cNvPr id="4" name="Footer Placeholder 3">
            <a:extLst>
              <a:ext uri="{FF2B5EF4-FFF2-40B4-BE49-F238E27FC236}">
                <a16:creationId xmlns:a16="http://schemas.microsoft.com/office/drawing/2014/main" id="{D1F22CF5-D8AE-1523-97DE-983888ED04B0}"/>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sz="1800" dirty="0"/>
              <a:t>Mohammad A. Hijazi</a:t>
            </a:r>
          </a:p>
        </p:txBody>
      </p:sp>
      <p:sp>
        <p:nvSpPr>
          <p:cNvPr id="6" name="Date Placeholder 5">
            <a:extLst>
              <a:ext uri="{FF2B5EF4-FFF2-40B4-BE49-F238E27FC236}">
                <a16:creationId xmlns:a16="http://schemas.microsoft.com/office/drawing/2014/main" id="{2A9C979B-7B88-AA9E-A87D-F6FC2E6CF160}"/>
              </a:ext>
            </a:extLst>
          </p:cNvPr>
          <p:cNvSpPr>
            <a:spLocks noGrp="1"/>
          </p:cNvSpPr>
          <p:nvPr>
            <p:ph type="dt" sz="half" idx="10"/>
          </p:nvPr>
        </p:nvSpPr>
        <p:spPr>
          <a:xfrm>
            <a:off x="9848086" y="219724"/>
            <a:ext cx="2168017" cy="413360"/>
          </a:xfrm>
        </p:spPr>
        <p:txBody>
          <a:bodyPr anchor="ctr">
            <a:normAutofit/>
          </a:bodyPr>
          <a:lstStyle/>
          <a:p>
            <a:pPr algn="r">
              <a:spcAft>
                <a:spcPts val="600"/>
              </a:spcAft>
            </a:pPr>
            <a:fld id="{BBB8170F-0370-4A38-8BF3-83D69476AE62}" type="datetime1">
              <a:rPr lang="en-US" sz="1800" smtClean="0"/>
              <a:pPr algn="r">
                <a:spcAft>
                  <a:spcPts val="600"/>
                </a:spcAft>
              </a:pPr>
              <a:t>5/13/2026</a:t>
            </a:fld>
            <a:endParaRPr lang="en-US" sz="1800" dirty="0"/>
          </a:p>
        </p:txBody>
      </p:sp>
    </p:spTree>
    <p:extLst>
      <p:ext uri="{BB962C8B-B14F-4D97-AF65-F5344CB8AC3E}">
        <p14:creationId xmlns:p14="http://schemas.microsoft.com/office/powerpoint/2010/main" val="124307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2000">
              <a:schemeClr val="accent1">
                <a:lumMod val="45000"/>
                <a:lumOff val="55000"/>
              </a:schemeClr>
            </a:gs>
            <a:gs pos="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34B40-0C54-A9BD-DF15-EA07F1572D93}"/>
              </a:ext>
            </a:extLst>
          </p:cNvPr>
          <p:cNvSpPr>
            <a:spLocks noGrp="1"/>
          </p:cNvSpPr>
          <p:nvPr>
            <p:ph type="title"/>
          </p:nvPr>
        </p:nvSpPr>
        <p:spPr>
          <a:xfrm>
            <a:off x="64008" y="1435608"/>
            <a:ext cx="11594592" cy="5559552"/>
          </a:xfrm>
        </p:spPr>
        <p:txBody>
          <a:bodyPr anchor="b">
            <a:normAutofit/>
          </a:bodyPr>
          <a:lstStyle/>
          <a:p>
            <a:pPr>
              <a:lnSpc>
                <a:spcPct val="100000"/>
              </a:lnSpc>
            </a:pPr>
            <a:r>
              <a:rPr lang="en-US" sz="10500" dirty="0">
                <a:latin typeface="Segoe UI" panose="020B0502040204020203" pitchFamily="34" charset="0"/>
                <a:cs typeface="Segoe UI" panose="020B0502040204020203" pitchFamily="34" charset="0"/>
              </a:rPr>
              <a:t>Introduction and Motivation</a:t>
            </a:r>
          </a:p>
        </p:txBody>
      </p:sp>
      <p:sp>
        <p:nvSpPr>
          <p:cNvPr id="6" name="Date Placeholder 5">
            <a:extLst>
              <a:ext uri="{FF2B5EF4-FFF2-40B4-BE49-F238E27FC236}">
                <a16:creationId xmlns:a16="http://schemas.microsoft.com/office/drawing/2014/main" id="{4B94296A-8CEA-F2E3-E048-C160F5AAE377}"/>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5/13/2026</a:t>
            </a:fld>
            <a:endParaRPr lang="en-US"/>
          </a:p>
        </p:txBody>
      </p:sp>
      <p:sp>
        <p:nvSpPr>
          <p:cNvPr id="7" name="Slide Number Placeholder 6">
            <a:extLst>
              <a:ext uri="{FF2B5EF4-FFF2-40B4-BE49-F238E27FC236}">
                <a16:creationId xmlns:a16="http://schemas.microsoft.com/office/drawing/2014/main" id="{94EACAEB-04D0-6497-EEA8-3EC55BBB6A90}"/>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a:t>
            </a:fld>
            <a:endParaRPr lang="en-US"/>
          </a:p>
        </p:txBody>
      </p:sp>
    </p:spTree>
    <p:extLst>
      <p:ext uri="{BB962C8B-B14F-4D97-AF65-F5344CB8AC3E}">
        <p14:creationId xmlns:p14="http://schemas.microsoft.com/office/powerpoint/2010/main" val="2473847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533F5-8343-F194-D3D6-DD688891034B}"/>
              </a:ext>
            </a:extLst>
          </p:cNvPr>
          <p:cNvSpPr>
            <a:spLocks noGrp="1"/>
          </p:cNvSpPr>
          <p:nvPr>
            <p:ph type="title"/>
          </p:nvPr>
        </p:nvSpPr>
        <p:spPr>
          <a:xfrm>
            <a:off x="320558" y="612648"/>
            <a:ext cx="7015483" cy="636049"/>
          </a:xfrm>
        </p:spPr>
        <p:txBody>
          <a:bodyPr anchor="b">
            <a:normAutofit/>
          </a:bodyPr>
          <a:lstStyle/>
          <a:p>
            <a:pPr algn="just"/>
            <a:r>
              <a:rPr lang="en-US" sz="2800" dirty="0">
                <a:latin typeface="Segoe UI" panose="020B0502040204020203" pitchFamily="34" charset="0"/>
                <a:cs typeface="Segoe UI" panose="020B0502040204020203" pitchFamily="34" charset="0"/>
              </a:rPr>
              <a:t>Why Lead Paint Regulation Matters</a:t>
            </a:r>
          </a:p>
        </p:txBody>
      </p:sp>
      <p:sp>
        <p:nvSpPr>
          <p:cNvPr id="3" name="Footer Placeholder 2">
            <a:extLst>
              <a:ext uri="{FF2B5EF4-FFF2-40B4-BE49-F238E27FC236}">
                <a16:creationId xmlns:a16="http://schemas.microsoft.com/office/drawing/2014/main" id="{F2806DBC-066C-90E6-CEF1-6426A70E0494}"/>
              </a:ext>
            </a:extLst>
          </p:cNvPr>
          <p:cNvSpPr>
            <a:spLocks noGrp="1"/>
          </p:cNvSpPr>
          <p:nvPr>
            <p:ph type="ftr" sz="quarter" idx="4294967295"/>
          </p:nvPr>
        </p:nvSpPr>
        <p:spPr>
          <a:xfrm>
            <a:off x="317773" y="207982"/>
            <a:ext cx="2963692" cy="41336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43C77D3E-FAA0-20D8-9CCB-96B9F7B75966}"/>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5/13/2026</a:t>
            </a:fld>
            <a:endParaRPr lang="en-US"/>
          </a:p>
        </p:txBody>
      </p:sp>
      <p:sp>
        <p:nvSpPr>
          <p:cNvPr id="5" name="Slide Number Placeholder 4">
            <a:extLst>
              <a:ext uri="{FF2B5EF4-FFF2-40B4-BE49-F238E27FC236}">
                <a16:creationId xmlns:a16="http://schemas.microsoft.com/office/drawing/2014/main" id="{B786DF6E-B906-B90C-0653-B40F1EB2B931}"/>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3</a:t>
            </a:fld>
            <a:endParaRPr lang="en-US"/>
          </a:p>
        </p:txBody>
      </p:sp>
      <p:sp>
        <p:nvSpPr>
          <p:cNvPr id="7" name="Content Placeholder 6">
            <a:extLst>
              <a:ext uri="{FF2B5EF4-FFF2-40B4-BE49-F238E27FC236}">
                <a16:creationId xmlns:a16="http://schemas.microsoft.com/office/drawing/2014/main" id="{E90D30D6-156C-1F03-6ED0-E1F174D1860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386348"/>
            <a:ext cx="7018271" cy="5166852"/>
          </a:xfrm>
        </p:spPr>
        <p:txBody>
          <a:bodyPr>
            <a:normAutofit/>
          </a:bodyPr>
          <a:lstStyle/>
          <a:p>
            <a:pPr marL="0" indent="0" algn="just">
              <a:spcBef>
                <a:spcPts val="2500"/>
              </a:spcBef>
              <a:buFont typeface="Arial" panose="020B0604020202020204" pitchFamily="34" charset="0"/>
              <a:buNone/>
            </a:pPr>
            <a:r>
              <a:rPr lang="en-US" sz="1600" b="1" dirty="0"/>
              <a:t>Health Risks of Lead Exposure</a:t>
            </a:r>
          </a:p>
          <a:p>
            <a:pPr marL="0" lvl="1" indent="0" algn="just">
              <a:buFont typeface="Arial" panose="020B0604020202020204" pitchFamily="34" charset="0"/>
              <a:buNone/>
            </a:pPr>
            <a:r>
              <a:rPr lang="en-US" dirty="0"/>
              <a:t>No safe level of lead exposure exists; children's neurological and cognitive development is permanently affected.</a:t>
            </a:r>
          </a:p>
          <a:p>
            <a:pPr marL="0" indent="0" algn="just">
              <a:spcBef>
                <a:spcPts val="2500"/>
              </a:spcBef>
              <a:buFont typeface="Arial" panose="020B0604020202020204" pitchFamily="34" charset="0"/>
              <a:buNone/>
            </a:pPr>
            <a:r>
              <a:rPr lang="en-US" sz="1600" b="1" dirty="0"/>
              <a:t>Lead Paint as Exposure Source</a:t>
            </a:r>
          </a:p>
          <a:p>
            <a:pPr marL="0" lvl="1" indent="0" algn="just">
              <a:buFont typeface="Arial" panose="020B0604020202020204" pitchFamily="34" charset="0"/>
              <a:buNone/>
            </a:pPr>
            <a:r>
              <a:rPr lang="en-US" dirty="0"/>
              <a:t>Lead-based paint is a major preventable source of lead exposure through dust and peeling surfaces.</a:t>
            </a:r>
          </a:p>
          <a:p>
            <a:pPr marL="0" indent="0" algn="just">
              <a:spcBef>
                <a:spcPts val="2500"/>
              </a:spcBef>
              <a:buFont typeface="Arial" panose="020B0604020202020204" pitchFamily="34" charset="0"/>
              <a:buNone/>
            </a:pPr>
            <a:r>
              <a:rPr lang="en-US" sz="1600" b="1" dirty="0"/>
              <a:t>Uneven Global Regulation</a:t>
            </a:r>
          </a:p>
          <a:p>
            <a:pPr marL="0" lvl="1" indent="0" algn="just">
              <a:buFont typeface="Arial" panose="020B0604020202020204" pitchFamily="34" charset="0"/>
              <a:buNone/>
            </a:pPr>
            <a:r>
              <a:rPr lang="en-US" dirty="0"/>
              <a:t>Less than half of countries have laws regulating lead paint, creating geographic disparities in protection.</a:t>
            </a:r>
          </a:p>
          <a:p>
            <a:pPr marL="0" indent="0" algn="just">
              <a:spcBef>
                <a:spcPts val="2500"/>
              </a:spcBef>
              <a:buFont typeface="Arial" panose="020B0604020202020204" pitchFamily="34" charset="0"/>
              <a:buNone/>
            </a:pPr>
            <a:r>
              <a:rPr lang="en-US" sz="1600" b="1" dirty="0"/>
              <a:t>Visualization for Awareness</a:t>
            </a:r>
          </a:p>
          <a:p>
            <a:pPr marL="0" lvl="1" indent="0" algn="just">
              <a:buFont typeface="Arial" panose="020B0604020202020204" pitchFamily="34" charset="0"/>
              <a:buNone/>
            </a:pPr>
            <a:r>
              <a:rPr lang="en-US" dirty="0"/>
              <a:t>Integrating regulation data with health outcomes encourages clearer understanding and informed public health decisions.</a:t>
            </a:r>
          </a:p>
        </p:txBody>
      </p:sp>
      <p:pic>
        <p:nvPicPr>
          <p:cNvPr id="8" name="Content Placeholder 7" descr="Kids making mess while using paint to renovate wall in their room">
            <a:extLst>
              <a:ext uri="{FF2B5EF4-FFF2-40B4-BE49-F238E27FC236}">
                <a16:creationId xmlns:a16="http://schemas.microsoft.com/office/drawing/2014/main" id="{01973BD0-F6A2-42DC-9B3F-0DB035F9D05F}"/>
              </a:ext>
            </a:extLst>
          </p:cNvPr>
          <p:cNvPicPr>
            <a:picLocks noGrp="1" noChangeAspect="1"/>
          </p:cNvPicPr>
          <p:nvPr>
            <p:ph type="pic" sz="quarter" idx="13"/>
          </p:nvPr>
        </p:nvPicPr>
        <p:blipFill>
          <a:blip r:embed="rId3"/>
          <a:srcRect l="19797" r="37209" b="-1"/>
          <a:stretch>
            <a:fillRect/>
          </a:stretch>
        </p:blipFill>
        <p:spPr>
          <a:xfrm>
            <a:off x="7773592" y="10"/>
            <a:ext cx="4417215" cy="6857990"/>
          </a:xfrm>
        </p:spPr>
      </p:pic>
    </p:spTree>
    <p:extLst>
      <p:ext uri="{BB962C8B-B14F-4D97-AF65-F5344CB8AC3E}">
        <p14:creationId xmlns:p14="http://schemas.microsoft.com/office/powerpoint/2010/main" val="34109517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2000">
              <a:schemeClr val="accent1">
                <a:lumMod val="45000"/>
                <a:lumOff val="55000"/>
              </a:schemeClr>
            </a:gs>
            <a:gs pos="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9373B-77A3-228F-6E21-B680943C875B}"/>
              </a:ext>
            </a:extLst>
          </p:cNvPr>
          <p:cNvSpPr>
            <a:spLocks noGrp="1"/>
          </p:cNvSpPr>
          <p:nvPr>
            <p:ph type="title"/>
          </p:nvPr>
        </p:nvSpPr>
        <p:spPr>
          <a:xfrm>
            <a:off x="64008" y="1435608"/>
            <a:ext cx="11594592" cy="5559552"/>
          </a:xfrm>
        </p:spPr>
        <p:txBody>
          <a:bodyPr anchor="b">
            <a:normAutofit/>
          </a:bodyPr>
          <a:lstStyle/>
          <a:p>
            <a:pPr>
              <a:lnSpc>
                <a:spcPct val="100000"/>
              </a:lnSpc>
            </a:pPr>
            <a:r>
              <a:rPr lang="en-US" sz="9600" dirty="0">
                <a:latin typeface="Segoe UI" panose="020B0502040204020203" pitchFamily="34" charset="0"/>
                <a:cs typeface="Segoe UI" panose="020B0502040204020203" pitchFamily="34" charset="0"/>
              </a:rPr>
              <a:t>Problem Formulation and Task Abstraction</a:t>
            </a:r>
          </a:p>
        </p:txBody>
      </p:sp>
      <p:sp>
        <p:nvSpPr>
          <p:cNvPr id="6" name="Date Placeholder 5">
            <a:extLst>
              <a:ext uri="{FF2B5EF4-FFF2-40B4-BE49-F238E27FC236}">
                <a16:creationId xmlns:a16="http://schemas.microsoft.com/office/drawing/2014/main" id="{D9E8B3E0-E58C-FB14-E7F0-EE8673C0D5AD}"/>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5/13/2026</a:t>
            </a:fld>
            <a:endParaRPr lang="en-US"/>
          </a:p>
        </p:txBody>
      </p:sp>
      <p:sp>
        <p:nvSpPr>
          <p:cNvPr id="7" name="Slide Number Placeholder 6">
            <a:extLst>
              <a:ext uri="{FF2B5EF4-FFF2-40B4-BE49-F238E27FC236}">
                <a16:creationId xmlns:a16="http://schemas.microsoft.com/office/drawing/2014/main" id="{90DF7A50-4061-649C-4D81-961518BD790A}"/>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4</a:t>
            </a:fld>
            <a:endParaRPr lang="en-US"/>
          </a:p>
        </p:txBody>
      </p:sp>
    </p:spTree>
    <p:extLst>
      <p:ext uri="{BB962C8B-B14F-4D97-AF65-F5344CB8AC3E}">
        <p14:creationId xmlns:p14="http://schemas.microsoft.com/office/powerpoint/2010/main" val="22959753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FCD54-BD84-F188-0FE2-8D7A785EACD2}"/>
              </a:ext>
            </a:extLst>
          </p:cNvPr>
          <p:cNvSpPr>
            <a:spLocks noGrp="1"/>
          </p:cNvSpPr>
          <p:nvPr>
            <p:ph type="title"/>
          </p:nvPr>
        </p:nvSpPr>
        <p:spPr>
          <a:xfrm>
            <a:off x="320557" y="762002"/>
            <a:ext cx="5294939" cy="1555895"/>
          </a:xfrm>
        </p:spPr>
        <p:txBody>
          <a:bodyPr anchor="t">
            <a:noAutofit/>
          </a:bodyPr>
          <a:lstStyle/>
          <a:p>
            <a:pPr>
              <a:lnSpc>
                <a:spcPct val="100000"/>
              </a:lnSpc>
            </a:pPr>
            <a:r>
              <a:rPr lang="en-US" sz="3200" dirty="0">
                <a:latin typeface="Segoe UI" panose="020B0502040204020203" pitchFamily="34" charset="0"/>
                <a:cs typeface="Segoe UI" panose="020B0502040204020203" pitchFamily="34" charset="0"/>
              </a:rPr>
              <a:t>From Policy Question to Visualization Tasks</a:t>
            </a:r>
          </a:p>
        </p:txBody>
      </p:sp>
      <p:sp>
        <p:nvSpPr>
          <p:cNvPr id="3" name="Footer Placeholder 2">
            <a:extLst>
              <a:ext uri="{FF2B5EF4-FFF2-40B4-BE49-F238E27FC236}">
                <a16:creationId xmlns:a16="http://schemas.microsoft.com/office/drawing/2014/main" id="{8C97DA73-D052-DFEF-92C3-72682A5DC9D9}"/>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9870527E-199F-658A-24AC-34F2DA9D0334}"/>
              </a:ext>
            </a:extLst>
          </p:cNvPr>
          <p:cNvSpPr>
            <a:spLocks noGrp="1"/>
          </p:cNvSpPr>
          <p:nvPr>
            <p:ph type="dt" sz="half" idx="14"/>
          </p:nvPr>
        </p:nvSpPr>
        <p:spPr>
          <a:xfrm>
            <a:off x="6340642" y="207982"/>
            <a:ext cx="1921315" cy="413360"/>
          </a:xfrm>
        </p:spPr>
        <p:txBody>
          <a:bodyPr anchor="ctr">
            <a:normAutofit/>
          </a:bodyPr>
          <a:lstStyle/>
          <a:p>
            <a:pPr>
              <a:spcAft>
                <a:spcPts val="600"/>
              </a:spcAft>
            </a:pPr>
            <a:fld id="{9EAD527F-9C49-4481-A18C-80BA2EA99E79}" type="datetime1">
              <a:rPr lang="en-US" smtClean="0"/>
              <a:pPr>
                <a:spcAft>
                  <a:spcPts val="600"/>
                </a:spcAft>
              </a:pPr>
              <a:t>5/13/2026</a:t>
            </a:fld>
            <a:endParaRPr lang="en-US"/>
          </a:p>
        </p:txBody>
      </p:sp>
      <p:sp>
        <p:nvSpPr>
          <p:cNvPr id="5" name="Slide Number Placeholder 4">
            <a:extLst>
              <a:ext uri="{FF2B5EF4-FFF2-40B4-BE49-F238E27FC236}">
                <a16:creationId xmlns:a16="http://schemas.microsoft.com/office/drawing/2014/main" id="{4D6C1A69-DE32-D791-2793-8118CB5D68FC}"/>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5</a:t>
            </a:fld>
            <a:endParaRPr lang="en-US"/>
          </a:p>
        </p:txBody>
      </p:sp>
      <p:pic>
        <p:nvPicPr>
          <p:cNvPr id="8" name="Content Placeholder 7" descr="Medical interface of the future, a system for managing medical data obtained by scanning the neural network of the human brain. Thanks to modern technologies and the help of neural networks, it is possible to make predictions and diagnose diseases at an early stage.">
            <a:extLst>
              <a:ext uri="{FF2B5EF4-FFF2-40B4-BE49-F238E27FC236}">
                <a16:creationId xmlns:a16="http://schemas.microsoft.com/office/drawing/2014/main" id="{02B3B23E-92FA-4381-A474-1CF4FE6EE4FB}"/>
              </a:ext>
            </a:extLst>
          </p:cNvPr>
          <p:cNvPicPr>
            <a:picLocks noGrp="1" noChangeAspect="1"/>
          </p:cNvPicPr>
          <p:nvPr>
            <p:ph type="pic" sz="quarter" idx="13"/>
          </p:nvPr>
        </p:nvPicPr>
        <p:blipFill>
          <a:blip r:embed="rId3"/>
          <a:srcRect l="12788" r="17123" b="-2"/>
          <a:stretch>
            <a:fillRect/>
          </a:stretch>
        </p:blipFill>
        <p:spPr>
          <a:xfrm>
            <a:off x="20" y="2442689"/>
            <a:ext cx="5875401" cy="4422032"/>
          </a:xfrm>
        </p:spPr>
      </p:pic>
      <p:sp>
        <p:nvSpPr>
          <p:cNvPr id="7" name="Content Placeholder 6">
            <a:extLst>
              <a:ext uri="{FF2B5EF4-FFF2-40B4-BE49-F238E27FC236}">
                <a16:creationId xmlns:a16="http://schemas.microsoft.com/office/drawing/2014/main" id="{919AF8F2-B0B9-635C-6F62-0BFAF265072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642" y="762000"/>
            <a:ext cx="5432239" cy="5791200"/>
          </a:xfrm>
        </p:spPr>
        <p:txBody>
          <a:bodyPr>
            <a:noAutofit/>
          </a:bodyPr>
          <a:lstStyle/>
          <a:p>
            <a:pPr marL="0" indent="0" algn="just">
              <a:lnSpc>
                <a:spcPct val="150000"/>
              </a:lnSpc>
              <a:spcBef>
                <a:spcPts val="2500"/>
              </a:spcBef>
              <a:buFont typeface="Arial" panose="020B0604020202020204" pitchFamily="34" charset="0"/>
              <a:buNone/>
            </a:pPr>
            <a:r>
              <a:rPr lang="en-US" sz="1600" b="1" dirty="0"/>
              <a:t>Task Abstraction Importance</a:t>
            </a:r>
          </a:p>
          <a:p>
            <a:pPr marL="0" lvl="1" indent="0" algn="just">
              <a:lnSpc>
                <a:spcPct val="150000"/>
              </a:lnSpc>
              <a:buFont typeface="Arial" panose="020B0604020202020204" pitchFamily="34" charset="0"/>
              <a:buNone/>
            </a:pPr>
            <a:r>
              <a:rPr lang="en-US" dirty="0"/>
              <a:t>Task abstraction breaks complex policy questions into clear visualization goals for better data interpretation.</a:t>
            </a:r>
          </a:p>
          <a:p>
            <a:pPr marL="0" indent="0" algn="just">
              <a:lnSpc>
                <a:spcPct val="150000"/>
              </a:lnSpc>
              <a:spcBef>
                <a:spcPts val="2500"/>
              </a:spcBef>
              <a:buFont typeface="Arial" panose="020B0604020202020204" pitchFamily="34" charset="0"/>
              <a:buNone/>
            </a:pPr>
            <a:r>
              <a:rPr lang="en-US" sz="1600" b="1" dirty="0"/>
              <a:t>Mapping Tasks to Visuals</a:t>
            </a:r>
          </a:p>
          <a:p>
            <a:pPr marL="0" lvl="1" indent="0" algn="just">
              <a:lnSpc>
                <a:spcPct val="150000"/>
              </a:lnSpc>
              <a:buFont typeface="Arial" panose="020B0604020202020204" pitchFamily="34" charset="0"/>
              <a:buNone/>
            </a:pPr>
            <a:r>
              <a:rPr lang="en-US" dirty="0"/>
              <a:t>Each analytical task is matched with a specific visualization type to enhance clarity and insight generation.</a:t>
            </a:r>
          </a:p>
          <a:p>
            <a:pPr marL="0" indent="0" algn="just">
              <a:lnSpc>
                <a:spcPct val="150000"/>
              </a:lnSpc>
              <a:spcBef>
                <a:spcPts val="2500"/>
              </a:spcBef>
              <a:buFont typeface="Arial" panose="020B0604020202020204" pitchFamily="34" charset="0"/>
              <a:buNone/>
            </a:pPr>
            <a:r>
              <a:rPr lang="en-US" sz="1600" b="1" dirty="0"/>
              <a:t>Key Visualization Types</a:t>
            </a:r>
          </a:p>
          <a:p>
            <a:pPr marL="0" lvl="1" indent="0" algn="just">
              <a:lnSpc>
                <a:spcPct val="150000"/>
              </a:lnSpc>
              <a:buFont typeface="Arial" panose="020B0604020202020204" pitchFamily="34" charset="0"/>
              <a:buNone/>
            </a:pPr>
            <a:r>
              <a:rPr lang="en-US" dirty="0"/>
              <a:t>Choropleth maps, bar charts, scatterplots, lollipop charts, and heatmaps are used for different data tasks.</a:t>
            </a:r>
          </a:p>
          <a:p>
            <a:pPr marL="0" indent="0" algn="just">
              <a:lnSpc>
                <a:spcPct val="150000"/>
              </a:lnSpc>
              <a:spcBef>
                <a:spcPts val="2500"/>
              </a:spcBef>
              <a:buFont typeface="Arial" panose="020B0604020202020204" pitchFamily="34" charset="0"/>
              <a:buNone/>
            </a:pPr>
            <a:r>
              <a:rPr lang="en-US" sz="1600" b="1" dirty="0"/>
              <a:t>Analytical Workflow</a:t>
            </a:r>
          </a:p>
          <a:p>
            <a:pPr marL="0" lvl="1" indent="0" algn="just">
              <a:lnSpc>
                <a:spcPct val="150000"/>
              </a:lnSpc>
              <a:buFont typeface="Arial" panose="020B0604020202020204" pitchFamily="34" charset="0"/>
              <a:buNone/>
            </a:pPr>
            <a:r>
              <a:rPr lang="en-US" dirty="0"/>
              <a:t>A coherent workflow guides users from broad overview to detailed insights through structured visual analysis.</a:t>
            </a:r>
          </a:p>
        </p:txBody>
      </p:sp>
    </p:spTree>
    <p:extLst>
      <p:ext uri="{BB962C8B-B14F-4D97-AF65-F5344CB8AC3E}">
        <p14:creationId xmlns:p14="http://schemas.microsoft.com/office/powerpoint/2010/main" val="39651218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B5186-04AD-AC63-0FB2-E603A64C5D54}"/>
              </a:ext>
            </a:extLst>
          </p:cNvPr>
          <p:cNvSpPr>
            <a:spLocks noGrp="1"/>
          </p:cNvSpPr>
          <p:nvPr>
            <p:ph type="title"/>
          </p:nvPr>
        </p:nvSpPr>
        <p:spPr>
          <a:xfrm>
            <a:off x="64008" y="1435608"/>
            <a:ext cx="11594592" cy="5559552"/>
          </a:xfrm>
        </p:spPr>
        <p:txBody>
          <a:bodyPr anchor="b">
            <a:normAutofit/>
          </a:bodyPr>
          <a:lstStyle/>
          <a:p>
            <a:r>
              <a:rPr lang="en-US" sz="9600" dirty="0"/>
              <a:t>Data Description and Preparation</a:t>
            </a:r>
          </a:p>
        </p:txBody>
      </p:sp>
      <p:sp>
        <p:nvSpPr>
          <p:cNvPr id="6" name="Date Placeholder 5">
            <a:extLst>
              <a:ext uri="{FF2B5EF4-FFF2-40B4-BE49-F238E27FC236}">
                <a16:creationId xmlns:a16="http://schemas.microsoft.com/office/drawing/2014/main" id="{7A1972C4-CC97-43F8-9875-0336FFBD5340}"/>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5/13/2026</a:t>
            </a:fld>
            <a:endParaRPr lang="en-US"/>
          </a:p>
        </p:txBody>
      </p:sp>
      <p:sp>
        <p:nvSpPr>
          <p:cNvPr id="7" name="Slide Number Placeholder 6">
            <a:extLst>
              <a:ext uri="{FF2B5EF4-FFF2-40B4-BE49-F238E27FC236}">
                <a16:creationId xmlns:a16="http://schemas.microsoft.com/office/drawing/2014/main" id="{300872A0-42D9-25D1-8812-5C23813606C5}"/>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6</a:t>
            </a:fld>
            <a:endParaRPr lang="en-US"/>
          </a:p>
        </p:txBody>
      </p:sp>
    </p:spTree>
    <p:extLst>
      <p:ext uri="{BB962C8B-B14F-4D97-AF65-F5344CB8AC3E}">
        <p14:creationId xmlns:p14="http://schemas.microsoft.com/office/powerpoint/2010/main" val="574030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718F-FD38-DD49-FFA4-AE41BDA8D525}"/>
              </a:ext>
            </a:extLst>
          </p:cNvPr>
          <p:cNvSpPr>
            <a:spLocks noGrp="1"/>
          </p:cNvSpPr>
          <p:nvPr>
            <p:ph type="title"/>
          </p:nvPr>
        </p:nvSpPr>
        <p:spPr>
          <a:xfrm>
            <a:off x="320557" y="762002"/>
            <a:ext cx="5294939" cy="1555895"/>
          </a:xfrm>
        </p:spPr>
        <p:txBody>
          <a:bodyPr anchor="t">
            <a:noAutofit/>
          </a:bodyPr>
          <a:lstStyle/>
          <a:p>
            <a:r>
              <a:rPr lang="en-US" sz="3200" dirty="0"/>
              <a:t>Integrating Policy and Health-Burden Data</a:t>
            </a:r>
          </a:p>
        </p:txBody>
      </p:sp>
      <p:sp>
        <p:nvSpPr>
          <p:cNvPr id="3" name="Footer Placeholder 2">
            <a:extLst>
              <a:ext uri="{FF2B5EF4-FFF2-40B4-BE49-F238E27FC236}">
                <a16:creationId xmlns:a16="http://schemas.microsoft.com/office/drawing/2014/main" id="{592074C9-7C3A-C2BC-B018-FBD8A7264EF2}"/>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a:t>Footer Text</a:t>
            </a:r>
          </a:p>
        </p:txBody>
      </p:sp>
      <p:sp>
        <p:nvSpPr>
          <p:cNvPr id="4" name="Date Placeholder 3">
            <a:extLst>
              <a:ext uri="{FF2B5EF4-FFF2-40B4-BE49-F238E27FC236}">
                <a16:creationId xmlns:a16="http://schemas.microsoft.com/office/drawing/2014/main" id="{D00DAD75-B453-83A0-E5F7-528B98C14A2F}"/>
              </a:ext>
            </a:extLst>
          </p:cNvPr>
          <p:cNvSpPr>
            <a:spLocks noGrp="1"/>
          </p:cNvSpPr>
          <p:nvPr>
            <p:ph type="dt" sz="half" idx="14"/>
          </p:nvPr>
        </p:nvSpPr>
        <p:spPr>
          <a:xfrm>
            <a:off x="6340642" y="207982"/>
            <a:ext cx="1921315" cy="413360"/>
          </a:xfrm>
        </p:spPr>
        <p:txBody>
          <a:bodyPr anchor="ctr">
            <a:normAutofit/>
          </a:bodyPr>
          <a:lstStyle/>
          <a:p>
            <a:pPr>
              <a:spcAft>
                <a:spcPts val="600"/>
              </a:spcAft>
            </a:pPr>
            <a:fld id="{9EAD527F-9C49-4481-A18C-80BA2EA99E79}" type="datetime1">
              <a:rPr lang="en-US" smtClean="0"/>
              <a:pPr>
                <a:spcAft>
                  <a:spcPts val="600"/>
                </a:spcAft>
              </a:pPr>
              <a:t>5/13/2026</a:t>
            </a:fld>
            <a:endParaRPr lang="en-US"/>
          </a:p>
        </p:txBody>
      </p:sp>
      <p:sp>
        <p:nvSpPr>
          <p:cNvPr id="5" name="Slide Number Placeholder 4">
            <a:extLst>
              <a:ext uri="{FF2B5EF4-FFF2-40B4-BE49-F238E27FC236}">
                <a16:creationId xmlns:a16="http://schemas.microsoft.com/office/drawing/2014/main" id="{7B79BB06-935B-F759-A9CE-C2F16228C248}"/>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7</a:t>
            </a:fld>
            <a:endParaRPr lang="en-US"/>
          </a:p>
        </p:txBody>
      </p:sp>
      <p:sp>
        <p:nvSpPr>
          <p:cNvPr id="7" name="Content Placeholder 6">
            <a:extLst>
              <a:ext uri="{FF2B5EF4-FFF2-40B4-BE49-F238E27FC236}">
                <a16:creationId xmlns:a16="http://schemas.microsoft.com/office/drawing/2014/main" id="{4C8D87FA-6C90-CAC7-8D9E-1886AB138C8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642" y="762000"/>
            <a:ext cx="5432239" cy="5791200"/>
          </a:xfrm>
        </p:spPr>
        <p:txBody>
          <a:bodyPr>
            <a:noAutofit/>
          </a:bodyPr>
          <a:lstStyle/>
          <a:p>
            <a:pPr marL="0" indent="0">
              <a:lnSpc>
                <a:spcPct val="150000"/>
              </a:lnSpc>
              <a:spcBef>
                <a:spcPts val="2500"/>
              </a:spcBef>
              <a:buFont typeface="Arial" panose="020B0604020202020204" pitchFamily="34" charset="0"/>
              <a:buNone/>
            </a:pPr>
            <a:r>
              <a:rPr lang="en-US" sz="1600" b="1" dirty="0"/>
              <a:t>Dataset Integration</a:t>
            </a:r>
          </a:p>
          <a:p>
            <a:pPr marL="0" lvl="1" indent="0">
              <a:lnSpc>
                <a:spcPct val="150000"/>
              </a:lnSpc>
              <a:buFont typeface="Arial" panose="020B0604020202020204" pitchFamily="34" charset="0"/>
              <a:buNone/>
            </a:pPr>
            <a:r>
              <a:rPr lang="en-US" dirty="0"/>
              <a:t>Two key datasets on lead paint policy and health burden were combined for comprehensive analysis.</a:t>
            </a:r>
          </a:p>
          <a:p>
            <a:pPr marL="0" indent="0">
              <a:lnSpc>
                <a:spcPct val="150000"/>
              </a:lnSpc>
              <a:spcBef>
                <a:spcPts val="2500"/>
              </a:spcBef>
              <a:buFont typeface="Arial" panose="020B0604020202020204" pitchFamily="34" charset="0"/>
              <a:buNone/>
            </a:pPr>
            <a:r>
              <a:rPr lang="en-US" sz="1600" b="1" dirty="0"/>
              <a:t>Data Preprocessing</a:t>
            </a:r>
          </a:p>
          <a:p>
            <a:pPr marL="0" lvl="1" indent="0">
              <a:lnSpc>
                <a:spcPct val="150000"/>
              </a:lnSpc>
              <a:buFont typeface="Arial" panose="020B0604020202020204" pitchFamily="34" charset="0"/>
              <a:buNone/>
            </a:pPr>
            <a:r>
              <a:rPr lang="en-US" dirty="0"/>
              <a:t>Data was filtered for 2023, harmonized for country names, and formatted for comparability across nations.</a:t>
            </a:r>
          </a:p>
          <a:p>
            <a:pPr marL="0" indent="0">
              <a:lnSpc>
                <a:spcPct val="150000"/>
              </a:lnSpc>
              <a:spcBef>
                <a:spcPts val="2500"/>
              </a:spcBef>
              <a:buFont typeface="Arial" panose="020B0604020202020204" pitchFamily="34" charset="0"/>
              <a:buNone/>
            </a:pPr>
            <a:r>
              <a:rPr lang="en-US" sz="1600" b="1" dirty="0"/>
              <a:t>Harmonization Challenges</a:t>
            </a:r>
          </a:p>
          <a:p>
            <a:pPr marL="0" lvl="1" indent="0">
              <a:lnSpc>
                <a:spcPct val="150000"/>
              </a:lnSpc>
              <a:buFont typeface="Arial" panose="020B0604020202020204" pitchFamily="34" charset="0"/>
              <a:buNone/>
            </a:pPr>
            <a:r>
              <a:rPr lang="en-US" dirty="0"/>
              <a:t>Country name differences and ISO code inconsistencies were resolved with crosswalks and manual overrides.</a:t>
            </a:r>
          </a:p>
          <a:p>
            <a:pPr marL="0" indent="0">
              <a:lnSpc>
                <a:spcPct val="150000"/>
              </a:lnSpc>
              <a:spcBef>
                <a:spcPts val="2500"/>
              </a:spcBef>
              <a:buFont typeface="Arial" panose="020B0604020202020204" pitchFamily="34" charset="0"/>
              <a:buNone/>
            </a:pPr>
            <a:r>
              <a:rPr lang="en-US" sz="1600" b="1" dirty="0"/>
              <a:t>Final Dataset Output</a:t>
            </a:r>
          </a:p>
          <a:p>
            <a:pPr marL="0" lvl="1" indent="0">
              <a:lnSpc>
                <a:spcPct val="150000"/>
              </a:lnSpc>
              <a:buFont typeface="Arial" panose="020B0604020202020204" pitchFamily="34" charset="0"/>
              <a:buNone/>
            </a:pPr>
            <a:r>
              <a:rPr lang="en-US" dirty="0"/>
              <a:t>The final dataset includes policy status, regional data, and health-burden metrics for each country.</a:t>
            </a:r>
          </a:p>
        </p:txBody>
      </p:sp>
      <p:pic>
        <p:nvPicPr>
          <p:cNvPr id="11" name="Picture 10">
            <a:extLst>
              <a:ext uri="{FF2B5EF4-FFF2-40B4-BE49-F238E27FC236}">
                <a16:creationId xmlns:a16="http://schemas.microsoft.com/office/drawing/2014/main" id="{52BF0A25-7BE5-2CEE-DCC8-F8A9D2F19C5D}"/>
              </a:ext>
            </a:extLst>
          </p:cNvPr>
          <p:cNvPicPr>
            <a:picLocks noChangeAspect="1"/>
          </p:cNvPicPr>
          <p:nvPr/>
        </p:nvPicPr>
        <p:blipFill>
          <a:blip r:embed="rId3"/>
          <a:stretch>
            <a:fillRect/>
          </a:stretch>
        </p:blipFill>
        <p:spPr>
          <a:xfrm>
            <a:off x="0" y="2458558"/>
            <a:ext cx="5882815" cy="4399442"/>
          </a:xfrm>
          <a:prstGeom prst="rect">
            <a:avLst/>
          </a:prstGeom>
        </p:spPr>
      </p:pic>
    </p:spTree>
    <p:extLst>
      <p:ext uri="{BB962C8B-B14F-4D97-AF65-F5344CB8AC3E}">
        <p14:creationId xmlns:p14="http://schemas.microsoft.com/office/powerpoint/2010/main" val="42920878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39BD4-0F86-BCD3-BBAF-CFF549923B16}"/>
              </a:ext>
            </a:extLst>
          </p:cNvPr>
          <p:cNvSpPr>
            <a:spLocks noGrp="1"/>
          </p:cNvSpPr>
          <p:nvPr>
            <p:ph type="title"/>
          </p:nvPr>
        </p:nvSpPr>
        <p:spPr>
          <a:xfrm>
            <a:off x="64008" y="1435608"/>
            <a:ext cx="11594592" cy="5559552"/>
          </a:xfrm>
        </p:spPr>
        <p:txBody>
          <a:bodyPr anchor="b">
            <a:noAutofit/>
          </a:bodyPr>
          <a:lstStyle/>
          <a:p>
            <a:r>
              <a:rPr lang="en-US" sz="8800" dirty="0"/>
              <a:t>Dashboard Overview and Visual Architecture</a:t>
            </a:r>
          </a:p>
        </p:txBody>
      </p:sp>
      <p:sp>
        <p:nvSpPr>
          <p:cNvPr id="6" name="Date Placeholder 5">
            <a:extLst>
              <a:ext uri="{FF2B5EF4-FFF2-40B4-BE49-F238E27FC236}">
                <a16:creationId xmlns:a16="http://schemas.microsoft.com/office/drawing/2014/main" id="{A44D3382-997F-281E-533C-59FFABB95644}"/>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5/13/2026</a:t>
            </a:fld>
            <a:endParaRPr lang="en-US"/>
          </a:p>
        </p:txBody>
      </p:sp>
      <p:sp>
        <p:nvSpPr>
          <p:cNvPr id="7" name="Slide Number Placeholder 6">
            <a:extLst>
              <a:ext uri="{FF2B5EF4-FFF2-40B4-BE49-F238E27FC236}">
                <a16:creationId xmlns:a16="http://schemas.microsoft.com/office/drawing/2014/main" id="{549F8A2B-DEF8-2AF9-62C0-3B2F7BFA39C7}"/>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8</a:t>
            </a:fld>
            <a:endParaRPr lang="en-US"/>
          </a:p>
        </p:txBody>
      </p:sp>
    </p:spTree>
    <p:extLst>
      <p:ext uri="{BB962C8B-B14F-4D97-AF65-F5344CB8AC3E}">
        <p14:creationId xmlns:p14="http://schemas.microsoft.com/office/powerpoint/2010/main" val="13007875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6ECD4-3E53-72D6-9BA9-160A60FE4FCC}"/>
              </a:ext>
            </a:extLst>
          </p:cNvPr>
          <p:cNvSpPr>
            <a:spLocks noGrp="1"/>
          </p:cNvSpPr>
          <p:nvPr>
            <p:ph type="title"/>
          </p:nvPr>
        </p:nvSpPr>
        <p:spPr>
          <a:xfrm>
            <a:off x="320558" y="150651"/>
            <a:ext cx="7015483" cy="1033272"/>
          </a:xfrm>
        </p:spPr>
        <p:txBody>
          <a:bodyPr anchor="b">
            <a:normAutofit fontScale="90000"/>
          </a:bodyPr>
          <a:lstStyle/>
          <a:p>
            <a:r>
              <a:rPr lang="en-US" dirty="0"/>
              <a:t>Overview-First Interactive Design</a:t>
            </a:r>
          </a:p>
        </p:txBody>
      </p:sp>
      <p:sp>
        <p:nvSpPr>
          <p:cNvPr id="4" name="Date Placeholder 3">
            <a:extLst>
              <a:ext uri="{FF2B5EF4-FFF2-40B4-BE49-F238E27FC236}">
                <a16:creationId xmlns:a16="http://schemas.microsoft.com/office/drawing/2014/main" id="{4F1428F4-BE60-CC3A-C01B-1B47897877E9}"/>
              </a:ext>
            </a:extLst>
          </p:cNvPr>
          <p:cNvSpPr>
            <a:spLocks noGrp="1"/>
          </p:cNvSpPr>
          <p:nvPr>
            <p:ph type="dt" sz="half" idx="14"/>
          </p:nvPr>
        </p:nvSpPr>
        <p:spPr>
          <a:xfrm>
            <a:off x="9836280" y="253927"/>
            <a:ext cx="1682496" cy="413360"/>
          </a:xfrm>
        </p:spPr>
        <p:txBody>
          <a:bodyPr anchor="ctr">
            <a:normAutofit/>
          </a:bodyPr>
          <a:lstStyle/>
          <a:p>
            <a:pPr>
              <a:spcAft>
                <a:spcPts val="600"/>
              </a:spcAft>
            </a:pPr>
            <a:fld id="{9EAD527F-9C49-4481-A18C-80BA2EA99E79}" type="datetime1">
              <a:rPr lang="en-US" smtClean="0"/>
              <a:pPr>
                <a:spcAft>
                  <a:spcPts val="600"/>
                </a:spcAft>
              </a:pPr>
              <a:t>5/13/2026</a:t>
            </a:fld>
            <a:endParaRPr lang="en-US"/>
          </a:p>
        </p:txBody>
      </p:sp>
      <p:sp>
        <p:nvSpPr>
          <p:cNvPr id="5" name="Slide Number Placeholder 4">
            <a:extLst>
              <a:ext uri="{FF2B5EF4-FFF2-40B4-BE49-F238E27FC236}">
                <a16:creationId xmlns:a16="http://schemas.microsoft.com/office/drawing/2014/main" id="{E3C95F02-A488-5251-F3BC-A1C41FC0446A}"/>
              </a:ext>
            </a:extLst>
          </p:cNvPr>
          <p:cNvSpPr>
            <a:spLocks noGrp="1"/>
          </p:cNvSpPr>
          <p:nvPr>
            <p:ph type="sldNum" sz="quarter" idx="16"/>
          </p:nvPr>
        </p:nvSpPr>
        <p:spPr>
          <a:xfrm>
            <a:off x="11400923" y="253927"/>
            <a:ext cx="546447" cy="413360"/>
          </a:xfrm>
        </p:spPr>
        <p:txBody>
          <a:bodyPr anchor="ctr">
            <a:normAutofit/>
          </a:bodyPr>
          <a:lstStyle/>
          <a:p>
            <a:pPr>
              <a:spcAft>
                <a:spcPts val="600"/>
              </a:spcAft>
            </a:pPr>
            <a:fld id="{753D0FD4-819D-4187-8797-C35567B41C78}" type="slidenum">
              <a:rPr lang="en-US" smtClean="0"/>
              <a:pPr>
                <a:spcAft>
                  <a:spcPts val="600"/>
                </a:spcAft>
              </a:pPr>
              <a:t>9</a:t>
            </a:fld>
            <a:endParaRPr lang="en-US"/>
          </a:p>
        </p:txBody>
      </p:sp>
      <p:sp>
        <p:nvSpPr>
          <p:cNvPr id="7" name="Content Placeholder 6">
            <a:extLst>
              <a:ext uri="{FF2B5EF4-FFF2-40B4-BE49-F238E27FC236}">
                <a16:creationId xmlns:a16="http://schemas.microsoft.com/office/drawing/2014/main" id="{E721AD0D-B284-DF1E-A103-4997842EFEA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20558" y="1183923"/>
            <a:ext cx="11550884" cy="4988593"/>
          </a:xfrm>
        </p:spPr>
        <p:txBody>
          <a:bodyPr>
            <a:normAutofit/>
          </a:bodyPr>
          <a:lstStyle/>
          <a:p>
            <a:pPr marL="0" indent="0">
              <a:lnSpc>
                <a:spcPct val="150000"/>
              </a:lnSpc>
              <a:spcBef>
                <a:spcPts val="2500"/>
              </a:spcBef>
              <a:buFont typeface="Arial" panose="020B0604020202020204" pitchFamily="34" charset="0"/>
              <a:buNone/>
            </a:pPr>
            <a:r>
              <a:rPr lang="en-US" sz="1400" b="1" dirty="0"/>
              <a:t>Modular Data Handling</a:t>
            </a:r>
          </a:p>
          <a:p>
            <a:pPr marL="0" lvl="1" indent="0">
              <a:lnSpc>
                <a:spcPct val="150000"/>
              </a:lnSpc>
              <a:buFont typeface="Arial" panose="020B0604020202020204" pitchFamily="34" charset="0"/>
              <a:buNone/>
            </a:pPr>
            <a:r>
              <a:rPr lang="en-US" sz="1400" dirty="0"/>
              <a:t>Data is prepared once and reused across visual components, ensuring consistency and efficiency in the dashboard.</a:t>
            </a:r>
          </a:p>
          <a:p>
            <a:pPr marL="0" indent="0">
              <a:lnSpc>
                <a:spcPct val="150000"/>
              </a:lnSpc>
              <a:spcBef>
                <a:spcPts val="2500"/>
              </a:spcBef>
              <a:buFont typeface="Arial" panose="020B0604020202020204" pitchFamily="34" charset="0"/>
              <a:buNone/>
            </a:pPr>
            <a:r>
              <a:rPr lang="en-US" sz="1400" b="1" dirty="0"/>
              <a:t>Overview-First Layout</a:t>
            </a:r>
          </a:p>
          <a:p>
            <a:pPr marL="0" lvl="1" indent="0">
              <a:lnSpc>
                <a:spcPct val="150000"/>
              </a:lnSpc>
              <a:buFont typeface="Arial" panose="020B0604020202020204" pitchFamily="34" charset="0"/>
              <a:buNone/>
            </a:pPr>
            <a:r>
              <a:rPr lang="en-US" sz="1400" dirty="0"/>
              <a:t>Users first see KPI cards summarizing key metrics, providing high-level context for further exploration.</a:t>
            </a:r>
          </a:p>
          <a:p>
            <a:pPr marL="0" indent="0">
              <a:lnSpc>
                <a:spcPct val="150000"/>
              </a:lnSpc>
              <a:spcBef>
                <a:spcPts val="2500"/>
              </a:spcBef>
              <a:buFont typeface="Arial" panose="020B0604020202020204" pitchFamily="34" charset="0"/>
              <a:buNone/>
            </a:pPr>
            <a:r>
              <a:rPr lang="en-US" sz="1400" b="1" dirty="0"/>
              <a:t>Coordinated Visualizations</a:t>
            </a:r>
          </a:p>
          <a:p>
            <a:pPr marL="0" lvl="1" indent="0">
              <a:lnSpc>
                <a:spcPct val="150000"/>
              </a:lnSpc>
              <a:buFont typeface="Arial" panose="020B0604020202020204" pitchFamily="34" charset="0"/>
              <a:buNone/>
            </a:pPr>
            <a:r>
              <a:rPr lang="en-US" sz="1400" dirty="0"/>
              <a:t>Sequence of linked views like maps, bar charts, and heatmaps allow detailed, multi-faceted data analysis.</a:t>
            </a:r>
          </a:p>
          <a:p>
            <a:pPr marL="0" indent="0">
              <a:lnSpc>
                <a:spcPct val="150000"/>
              </a:lnSpc>
              <a:spcBef>
                <a:spcPts val="2500"/>
              </a:spcBef>
              <a:buFont typeface="Arial" panose="020B0604020202020204" pitchFamily="34" charset="0"/>
              <a:buNone/>
            </a:pPr>
            <a:r>
              <a:rPr lang="en-US" sz="1400" b="1" dirty="0"/>
              <a:t>Visual Consistency and Ethics</a:t>
            </a:r>
          </a:p>
          <a:p>
            <a:pPr marL="0" lvl="1" indent="0">
              <a:lnSpc>
                <a:spcPct val="150000"/>
              </a:lnSpc>
              <a:buFont typeface="Arial" panose="020B0604020202020204" pitchFamily="34" charset="0"/>
              <a:buNone/>
            </a:pPr>
            <a:r>
              <a:rPr lang="en-US" sz="1400" dirty="0"/>
              <a:t>Consistent color coding and framing notes prevent misinterpretation and support ethical data visualization.</a:t>
            </a:r>
          </a:p>
        </p:txBody>
      </p:sp>
      <p:pic>
        <p:nvPicPr>
          <p:cNvPr id="13" name="Picture 12">
            <a:extLst>
              <a:ext uri="{FF2B5EF4-FFF2-40B4-BE49-F238E27FC236}">
                <a16:creationId xmlns:a16="http://schemas.microsoft.com/office/drawing/2014/main" id="{98607097-9B9A-7E66-0BCF-EB62CF30BB74}"/>
              </a:ext>
            </a:extLst>
          </p:cNvPr>
          <p:cNvPicPr>
            <a:picLocks noChangeAspect="1"/>
          </p:cNvPicPr>
          <p:nvPr/>
        </p:nvPicPr>
        <p:blipFill>
          <a:blip r:embed="rId3"/>
          <a:stretch>
            <a:fillRect/>
          </a:stretch>
        </p:blipFill>
        <p:spPr>
          <a:xfrm>
            <a:off x="0" y="5003126"/>
            <a:ext cx="12192000" cy="1854874"/>
          </a:xfrm>
          <a:prstGeom prst="rect">
            <a:avLst/>
          </a:prstGeom>
        </p:spPr>
      </p:pic>
    </p:spTree>
    <p:extLst>
      <p:ext uri="{BB962C8B-B14F-4D97-AF65-F5344CB8AC3E}">
        <p14:creationId xmlns:p14="http://schemas.microsoft.com/office/powerpoint/2010/main" val="27288299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3A99B-7D61-E870-6BB4-5FFE987999A4}"/>
              </a:ext>
            </a:extLst>
          </p:cNvPr>
          <p:cNvSpPr>
            <a:spLocks noGrp="1"/>
          </p:cNvSpPr>
          <p:nvPr>
            <p:ph type="title"/>
          </p:nvPr>
        </p:nvSpPr>
        <p:spPr>
          <a:xfrm>
            <a:off x="64008" y="1435608"/>
            <a:ext cx="11594592" cy="5559552"/>
          </a:xfrm>
        </p:spPr>
        <p:txBody>
          <a:bodyPr anchor="b">
            <a:normAutofit/>
          </a:bodyPr>
          <a:lstStyle/>
          <a:p>
            <a:r>
              <a:rPr lang="en-US" sz="9600" dirty="0"/>
              <a:t>Spatial and Comparative Visualizations</a:t>
            </a:r>
          </a:p>
        </p:txBody>
      </p:sp>
      <p:sp>
        <p:nvSpPr>
          <p:cNvPr id="6" name="Date Placeholder 5">
            <a:extLst>
              <a:ext uri="{FF2B5EF4-FFF2-40B4-BE49-F238E27FC236}">
                <a16:creationId xmlns:a16="http://schemas.microsoft.com/office/drawing/2014/main" id="{92DD5B4C-6C6A-B1A4-89BE-33ABD65FE56D}"/>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5/13/2026</a:t>
            </a:fld>
            <a:endParaRPr lang="en-US"/>
          </a:p>
        </p:txBody>
      </p:sp>
      <p:sp>
        <p:nvSpPr>
          <p:cNvPr id="7" name="Slide Number Placeholder 6">
            <a:extLst>
              <a:ext uri="{FF2B5EF4-FFF2-40B4-BE49-F238E27FC236}">
                <a16:creationId xmlns:a16="http://schemas.microsoft.com/office/drawing/2014/main" id="{3B624E5A-0EC5-533B-470B-563403B75539}"/>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10</a:t>
            </a:fld>
            <a:endParaRPr lang="en-US"/>
          </a:p>
        </p:txBody>
      </p:sp>
    </p:spTree>
    <p:extLst>
      <p:ext uri="{BB962C8B-B14F-4D97-AF65-F5344CB8AC3E}">
        <p14:creationId xmlns:p14="http://schemas.microsoft.com/office/powerpoint/2010/main" val="22645751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20571-271A-446D-6287-625D5A563454}"/>
              </a:ext>
            </a:extLst>
          </p:cNvPr>
          <p:cNvSpPr>
            <a:spLocks noGrp="1"/>
          </p:cNvSpPr>
          <p:nvPr>
            <p:ph type="title"/>
          </p:nvPr>
        </p:nvSpPr>
        <p:spPr>
          <a:xfrm>
            <a:off x="7670319" y="621792"/>
            <a:ext cx="4102574" cy="1516070"/>
          </a:xfrm>
        </p:spPr>
        <p:txBody>
          <a:bodyPr anchor="t">
            <a:normAutofit fontScale="90000"/>
          </a:bodyPr>
          <a:lstStyle/>
          <a:p>
            <a:r>
              <a:rPr lang="en-US" dirty="0"/>
              <a:t>Maps, Counts, and Regional Comparisons</a:t>
            </a:r>
          </a:p>
        </p:txBody>
      </p:sp>
      <p:sp>
        <p:nvSpPr>
          <p:cNvPr id="4" name="Date Placeholder 3">
            <a:extLst>
              <a:ext uri="{FF2B5EF4-FFF2-40B4-BE49-F238E27FC236}">
                <a16:creationId xmlns:a16="http://schemas.microsoft.com/office/drawing/2014/main" id="{4791CC75-F1F9-0C28-0F4D-4EF9D9CBBB30}"/>
              </a:ext>
            </a:extLst>
          </p:cNvPr>
          <p:cNvSpPr>
            <a:spLocks noGrp="1"/>
          </p:cNvSpPr>
          <p:nvPr>
            <p:ph type="dt" sz="half" idx="10"/>
          </p:nvPr>
        </p:nvSpPr>
        <p:spPr>
          <a:xfrm>
            <a:off x="9930367" y="210312"/>
            <a:ext cx="1216834" cy="411480"/>
          </a:xfrm>
        </p:spPr>
        <p:txBody>
          <a:bodyPr anchor="ctr">
            <a:normAutofit/>
          </a:bodyPr>
          <a:lstStyle/>
          <a:p>
            <a:pPr>
              <a:spcAft>
                <a:spcPts val="600"/>
              </a:spcAft>
            </a:pPr>
            <a:fld id="{9EAD527F-9C49-4481-A18C-80BA2EA99E79}" type="datetime1">
              <a:rPr lang="en-US" smtClean="0"/>
              <a:pPr>
                <a:spcAft>
                  <a:spcPts val="600"/>
                </a:spcAft>
              </a:pPr>
              <a:t>5/13/2026</a:t>
            </a:fld>
            <a:endParaRPr lang="en-US"/>
          </a:p>
        </p:txBody>
      </p:sp>
      <p:sp>
        <p:nvSpPr>
          <p:cNvPr id="5" name="Slide Number Placeholder 4">
            <a:extLst>
              <a:ext uri="{FF2B5EF4-FFF2-40B4-BE49-F238E27FC236}">
                <a16:creationId xmlns:a16="http://schemas.microsoft.com/office/drawing/2014/main" id="{A48B53D1-3985-6ED3-33C1-C67E7752E140}"/>
              </a:ext>
            </a:extLst>
          </p:cNvPr>
          <p:cNvSpPr>
            <a:spLocks noGrp="1"/>
          </p:cNvSpPr>
          <p:nvPr>
            <p:ph type="sldNum" sz="quarter" idx="12"/>
          </p:nvPr>
        </p:nvSpPr>
        <p:spPr>
          <a:xfrm>
            <a:off x="11226453" y="210312"/>
            <a:ext cx="679998" cy="413360"/>
          </a:xfrm>
        </p:spPr>
        <p:txBody>
          <a:bodyPr anchor="ctr">
            <a:normAutofit/>
          </a:bodyPr>
          <a:lstStyle/>
          <a:p>
            <a:pPr>
              <a:spcAft>
                <a:spcPts val="600"/>
              </a:spcAft>
            </a:pPr>
            <a:fld id="{753D0FD4-819D-4187-8797-C35567B41C78}" type="slidenum">
              <a:rPr lang="en-US" smtClean="0"/>
              <a:pPr>
                <a:spcAft>
                  <a:spcPts val="600"/>
                </a:spcAft>
              </a:pPr>
              <a:t>11</a:t>
            </a:fld>
            <a:endParaRPr lang="en-US"/>
          </a:p>
        </p:txBody>
      </p:sp>
      <p:sp>
        <p:nvSpPr>
          <p:cNvPr id="7" name="Content Placeholder 6">
            <a:extLst>
              <a:ext uri="{FF2B5EF4-FFF2-40B4-BE49-F238E27FC236}">
                <a16:creationId xmlns:a16="http://schemas.microsoft.com/office/drawing/2014/main" id="{F9D58492-17F3-9D39-530B-BD20EC8ED63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70308" y="1986116"/>
            <a:ext cx="4102585" cy="4542699"/>
          </a:xfrm>
        </p:spPr>
        <p:txBody>
          <a:bodyPr>
            <a:normAutofit lnSpcReduction="10000"/>
          </a:bodyPr>
          <a:lstStyle/>
          <a:p>
            <a:pPr marL="0" indent="0" algn="just">
              <a:lnSpc>
                <a:spcPct val="150000"/>
              </a:lnSpc>
              <a:spcBef>
                <a:spcPts val="2500"/>
              </a:spcBef>
              <a:buFont typeface="Arial" panose="020B0604020202020204" pitchFamily="34" charset="0"/>
              <a:buNone/>
            </a:pPr>
            <a:r>
              <a:rPr lang="en-US" sz="1400" b="1" dirty="0"/>
              <a:t>Choropleth Map Visualization</a:t>
            </a:r>
          </a:p>
          <a:p>
            <a:pPr marL="0" lvl="1" indent="0" algn="just">
              <a:lnSpc>
                <a:spcPct val="150000"/>
              </a:lnSpc>
              <a:buFont typeface="Arial" panose="020B0604020202020204" pitchFamily="34" charset="0"/>
              <a:buNone/>
            </a:pPr>
            <a:r>
              <a:rPr lang="en-US" sz="1400" dirty="0"/>
              <a:t>The choropleth map uses color-coded countries to show where lead paint regulations exist, revealing global policy gaps.</a:t>
            </a:r>
          </a:p>
          <a:p>
            <a:pPr marL="0" indent="0" algn="just">
              <a:lnSpc>
                <a:spcPct val="150000"/>
              </a:lnSpc>
              <a:spcBef>
                <a:spcPts val="2500"/>
              </a:spcBef>
              <a:buFont typeface="Arial" panose="020B0604020202020204" pitchFamily="34" charset="0"/>
              <a:buNone/>
            </a:pPr>
            <a:r>
              <a:rPr lang="en-US" sz="1400" b="1" dirty="0"/>
              <a:t>Country Regulation Counts</a:t>
            </a:r>
          </a:p>
          <a:p>
            <a:pPr marL="0" lvl="1" indent="0" algn="just">
              <a:lnSpc>
                <a:spcPct val="150000"/>
              </a:lnSpc>
              <a:buFont typeface="Arial" panose="020B0604020202020204" pitchFamily="34" charset="0"/>
              <a:buNone/>
            </a:pPr>
            <a:r>
              <a:rPr lang="en-US" sz="1400" dirty="0"/>
              <a:t>A bar chart summarizes the number of countries with and without lead paint regulations, showing the global law coverage.</a:t>
            </a:r>
          </a:p>
          <a:p>
            <a:pPr marL="0" indent="0" algn="just">
              <a:lnSpc>
                <a:spcPct val="150000"/>
              </a:lnSpc>
              <a:spcBef>
                <a:spcPts val="2500"/>
              </a:spcBef>
              <a:buFont typeface="Arial" panose="020B0604020202020204" pitchFamily="34" charset="0"/>
              <a:buNone/>
            </a:pPr>
            <a:r>
              <a:rPr lang="en-US" sz="1400" b="1" dirty="0"/>
              <a:t>Regional Proportional Comparison</a:t>
            </a:r>
          </a:p>
          <a:p>
            <a:pPr marL="0" lvl="1" indent="0" algn="just">
              <a:lnSpc>
                <a:spcPct val="150000"/>
              </a:lnSpc>
              <a:buFont typeface="Arial" panose="020B0604020202020204" pitchFamily="34" charset="0"/>
              <a:buNone/>
            </a:pPr>
            <a:r>
              <a:rPr lang="en-US" sz="1400" dirty="0"/>
              <a:t>A horizontal stacked bar chart displays the proportion of regulated versus unregulated countries per continent to highlight disparities.</a:t>
            </a:r>
          </a:p>
        </p:txBody>
      </p:sp>
      <p:pic>
        <p:nvPicPr>
          <p:cNvPr id="9" name="Picture 8">
            <a:extLst>
              <a:ext uri="{FF2B5EF4-FFF2-40B4-BE49-F238E27FC236}">
                <a16:creationId xmlns:a16="http://schemas.microsoft.com/office/drawing/2014/main" id="{A6CCD9D6-250F-4AC9-8EBE-D0356D163D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 y="3032275"/>
            <a:ext cx="3513818" cy="3825725"/>
          </a:xfrm>
          <a:prstGeom prst="rect">
            <a:avLst/>
          </a:prstGeom>
        </p:spPr>
      </p:pic>
      <p:pic>
        <p:nvPicPr>
          <p:cNvPr id="11" name="Picture 10">
            <a:extLst>
              <a:ext uri="{FF2B5EF4-FFF2-40B4-BE49-F238E27FC236}">
                <a16:creationId xmlns:a16="http://schemas.microsoft.com/office/drawing/2014/main" id="{E2BEE967-9440-538F-EC9C-43307C040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3819" y="3028335"/>
            <a:ext cx="3772158" cy="3829665"/>
          </a:xfrm>
          <a:prstGeom prst="rect">
            <a:avLst/>
          </a:prstGeom>
        </p:spPr>
      </p:pic>
      <p:pic>
        <p:nvPicPr>
          <p:cNvPr id="13" name="Picture 12">
            <a:extLst>
              <a:ext uri="{FF2B5EF4-FFF2-40B4-BE49-F238E27FC236}">
                <a16:creationId xmlns:a16="http://schemas.microsoft.com/office/drawing/2014/main" id="{B4361C94-46CE-96DA-0EAF-7CC5D0814C4C}"/>
              </a:ext>
            </a:extLst>
          </p:cNvPr>
          <p:cNvPicPr>
            <a:picLocks noChangeAspect="1"/>
          </p:cNvPicPr>
          <p:nvPr/>
        </p:nvPicPr>
        <p:blipFill>
          <a:blip r:embed="rId5"/>
          <a:stretch>
            <a:fillRect/>
          </a:stretch>
        </p:blipFill>
        <p:spPr>
          <a:xfrm>
            <a:off x="-10" y="0"/>
            <a:ext cx="7285987" cy="3028335"/>
          </a:xfrm>
          <a:prstGeom prst="rect">
            <a:avLst/>
          </a:prstGeom>
        </p:spPr>
      </p:pic>
    </p:spTree>
    <p:extLst>
      <p:ext uri="{BB962C8B-B14F-4D97-AF65-F5344CB8AC3E}">
        <p14:creationId xmlns:p14="http://schemas.microsoft.com/office/powerpoint/2010/main" val="3052591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EBAB6-16A4-5FF9-B150-29FEF0088E7E}"/>
              </a:ext>
            </a:extLst>
          </p:cNvPr>
          <p:cNvSpPr>
            <a:spLocks noGrp="1"/>
          </p:cNvSpPr>
          <p:nvPr>
            <p:ph type="title"/>
          </p:nvPr>
        </p:nvSpPr>
        <p:spPr>
          <a:xfrm>
            <a:off x="64008" y="1435608"/>
            <a:ext cx="11594592" cy="5559552"/>
          </a:xfrm>
        </p:spPr>
        <p:txBody>
          <a:bodyPr anchor="b">
            <a:normAutofit/>
          </a:bodyPr>
          <a:lstStyle/>
          <a:p>
            <a:r>
              <a:rPr lang="en-US" sz="10500" dirty="0"/>
              <a:t>Relationship and Ranking Analyses</a:t>
            </a:r>
          </a:p>
        </p:txBody>
      </p:sp>
      <p:sp>
        <p:nvSpPr>
          <p:cNvPr id="6" name="Date Placeholder 5">
            <a:extLst>
              <a:ext uri="{FF2B5EF4-FFF2-40B4-BE49-F238E27FC236}">
                <a16:creationId xmlns:a16="http://schemas.microsoft.com/office/drawing/2014/main" id="{B0453E50-4E3A-837E-02C8-106D8675EE2A}"/>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5/13/2026</a:t>
            </a:fld>
            <a:endParaRPr lang="en-US"/>
          </a:p>
        </p:txBody>
      </p:sp>
      <p:sp>
        <p:nvSpPr>
          <p:cNvPr id="7" name="Slide Number Placeholder 6">
            <a:extLst>
              <a:ext uri="{FF2B5EF4-FFF2-40B4-BE49-F238E27FC236}">
                <a16:creationId xmlns:a16="http://schemas.microsoft.com/office/drawing/2014/main" id="{2509F331-5BA9-C86F-F42D-3ABF0D1A4DB7}"/>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12</a:t>
            </a:fld>
            <a:endParaRPr lang="en-US"/>
          </a:p>
        </p:txBody>
      </p:sp>
    </p:spTree>
    <p:extLst>
      <p:ext uri="{BB962C8B-B14F-4D97-AF65-F5344CB8AC3E}">
        <p14:creationId xmlns:p14="http://schemas.microsoft.com/office/powerpoint/2010/main" val="1308146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0CEA4-8CB9-917F-F7C4-A4B732917FCE}"/>
              </a:ext>
            </a:extLst>
          </p:cNvPr>
          <p:cNvSpPr>
            <a:spLocks noGrp="1"/>
          </p:cNvSpPr>
          <p:nvPr>
            <p:ph type="title"/>
          </p:nvPr>
        </p:nvSpPr>
        <p:spPr>
          <a:xfrm>
            <a:off x="5330876" y="749808"/>
            <a:ext cx="6442024" cy="2039112"/>
          </a:xfrm>
        </p:spPr>
        <p:txBody>
          <a:bodyPr anchor="t">
            <a:noAutofit/>
          </a:bodyPr>
          <a:lstStyle/>
          <a:p>
            <a:pPr>
              <a:lnSpc>
                <a:spcPct val="100000"/>
              </a:lnSpc>
            </a:pPr>
            <a:r>
              <a:rPr lang="en-US" sz="3200" dirty="0">
                <a:latin typeface="Segoe UI" panose="020B0502040204020203" pitchFamily="34" charset="0"/>
                <a:cs typeface="Segoe UI" panose="020B0502040204020203" pitchFamily="34" charset="0"/>
              </a:rPr>
              <a:t>DALY–Death Relationships and High-Burden Countries</a:t>
            </a:r>
          </a:p>
        </p:txBody>
      </p:sp>
      <p:sp>
        <p:nvSpPr>
          <p:cNvPr id="4" name="Date Placeholder 3">
            <a:extLst>
              <a:ext uri="{FF2B5EF4-FFF2-40B4-BE49-F238E27FC236}">
                <a16:creationId xmlns:a16="http://schemas.microsoft.com/office/drawing/2014/main" id="{FC75AEBC-EAB2-B096-6C9A-292919E6F2EC}"/>
              </a:ext>
            </a:extLst>
          </p:cNvPr>
          <p:cNvSpPr>
            <a:spLocks noGrp="1"/>
          </p:cNvSpPr>
          <p:nvPr>
            <p:ph type="dt" sz="half" idx="10"/>
          </p:nvPr>
        </p:nvSpPr>
        <p:spPr>
          <a:xfrm>
            <a:off x="9609227" y="210312"/>
            <a:ext cx="1679642" cy="411480"/>
          </a:xfrm>
        </p:spPr>
        <p:txBody>
          <a:bodyPr anchor="ctr">
            <a:normAutofit/>
          </a:bodyPr>
          <a:lstStyle/>
          <a:p>
            <a:pPr>
              <a:spcAft>
                <a:spcPts val="600"/>
              </a:spcAft>
            </a:pPr>
            <a:fld id="{9EAD527F-9C49-4481-A18C-80BA2EA99E79}" type="datetime1">
              <a:rPr lang="en-US" smtClean="0"/>
              <a:pPr>
                <a:spcAft>
                  <a:spcPts val="600"/>
                </a:spcAft>
              </a:pPr>
              <a:t>5/13/2026</a:t>
            </a:fld>
            <a:endParaRPr lang="en-US"/>
          </a:p>
        </p:txBody>
      </p:sp>
      <p:sp>
        <p:nvSpPr>
          <p:cNvPr id="5" name="Slide Number Placeholder 4">
            <a:extLst>
              <a:ext uri="{FF2B5EF4-FFF2-40B4-BE49-F238E27FC236}">
                <a16:creationId xmlns:a16="http://schemas.microsoft.com/office/drawing/2014/main" id="{CD382300-9EB2-6853-E77B-6E5A4BD7FA6B}"/>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13</a:t>
            </a:fld>
            <a:endParaRPr lang="en-US"/>
          </a:p>
        </p:txBody>
      </p:sp>
      <p:sp>
        <p:nvSpPr>
          <p:cNvPr id="7" name="Content Placeholder 6">
            <a:extLst>
              <a:ext uri="{FF2B5EF4-FFF2-40B4-BE49-F238E27FC236}">
                <a16:creationId xmlns:a16="http://schemas.microsoft.com/office/drawing/2014/main" id="{F729A433-9D3A-1302-66A6-838AD0AB47F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0875" y="1956620"/>
            <a:ext cx="6442025" cy="4559442"/>
          </a:xfrm>
        </p:spPr>
        <p:txBody>
          <a:bodyPr>
            <a:normAutofit/>
          </a:bodyPr>
          <a:lstStyle/>
          <a:p>
            <a:pPr marL="0" indent="0">
              <a:lnSpc>
                <a:spcPct val="150000"/>
              </a:lnSpc>
              <a:spcBef>
                <a:spcPts val="2500"/>
              </a:spcBef>
              <a:buFont typeface="Arial" panose="020B0604020202020204" pitchFamily="34" charset="0"/>
              <a:buNone/>
            </a:pPr>
            <a:r>
              <a:rPr lang="en-US" sz="1600" b="1" dirty="0"/>
              <a:t>Scatterplot Analysis</a:t>
            </a:r>
          </a:p>
          <a:p>
            <a:pPr marL="0" lvl="1" indent="0">
              <a:lnSpc>
                <a:spcPct val="150000"/>
              </a:lnSpc>
              <a:buFont typeface="Arial" panose="020B0604020202020204" pitchFamily="34" charset="0"/>
              <a:buNone/>
            </a:pPr>
            <a:r>
              <a:rPr lang="en-US" dirty="0"/>
              <a:t>The scatterplot visualizes the positive association between DALY rates and death rates across countries.</a:t>
            </a:r>
          </a:p>
          <a:p>
            <a:pPr marL="0" indent="0">
              <a:lnSpc>
                <a:spcPct val="150000"/>
              </a:lnSpc>
              <a:spcBef>
                <a:spcPts val="2500"/>
              </a:spcBef>
              <a:buFont typeface="Arial" panose="020B0604020202020204" pitchFamily="34" charset="0"/>
              <a:buNone/>
            </a:pPr>
            <a:r>
              <a:rPr lang="en-US" sz="1600" b="1" dirty="0"/>
              <a:t>Regulation Status Visualization</a:t>
            </a:r>
          </a:p>
          <a:p>
            <a:pPr marL="0" lvl="1" indent="0">
              <a:lnSpc>
                <a:spcPct val="150000"/>
              </a:lnSpc>
              <a:buFont typeface="Arial" panose="020B0604020202020204" pitchFamily="34" charset="0"/>
              <a:buNone/>
            </a:pPr>
            <a:r>
              <a:rPr lang="en-US" dirty="0"/>
              <a:t>Color coding distinguishes countries by lead paint regulation, facilitating comparison within health outcome data.</a:t>
            </a:r>
          </a:p>
          <a:p>
            <a:pPr marL="0" indent="0">
              <a:lnSpc>
                <a:spcPct val="150000"/>
              </a:lnSpc>
              <a:spcBef>
                <a:spcPts val="2500"/>
              </a:spcBef>
              <a:buFont typeface="Arial" panose="020B0604020202020204" pitchFamily="34" charset="0"/>
              <a:buNone/>
            </a:pPr>
            <a:r>
              <a:rPr lang="en-US" sz="1600" b="1" dirty="0"/>
              <a:t>High-Burden Country Rankings</a:t>
            </a:r>
          </a:p>
          <a:p>
            <a:pPr marL="0" lvl="1" indent="0">
              <a:lnSpc>
                <a:spcPct val="150000"/>
              </a:lnSpc>
              <a:buFont typeface="Arial" panose="020B0604020202020204" pitchFamily="34" charset="0"/>
              <a:buNone/>
            </a:pPr>
            <a:r>
              <a:rPr lang="en-US" dirty="0"/>
              <a:t>Ranked lollipop charts highlight countries with the highest DALY and death rates, emphasizing extremes.</a:t>
            </a:r>
          </a:p>
        </p:txBody>
      </p:sp>
      <p:pic>
        <p:nvPicPr>
          <p:cNvPr id="19" name="Picture Placeholder 18">
            <a:extLst>
              <a:ext uri="{FF2B5EF4-FFF2-40B4-BE49-F238E27FC236}">
                <a16:creationId xmlns:a16="http://schemas.microsoft.com/office/drawing/2014/main" id="{5618F6A3-8E35-C189-7089-0194DF1C552F}"/>
              </a:ext>
            </a:extLst>
          </p:cNvPr>
          <p:cNvPicPr>
            <a:picLocks noGrp="1" noChangeAspect="1"/>
          </p:cNvPicPr>
          <p:nvPr>
            <p:ph type="pic" sz="quarter" idx="13"/>
          </p:nvPr>
        </p:nvPicPr>
        <p:blipFill>
          <a:blip r:embed="rId3"/>
          <a:srcRect l="1304" r="940"/>
          <a:stretch>
            <a:fillRect/>
          </a:stretch>
        </p:blipFill>
        <p:spPr>
          <a:xfrm>
            <a:off x="-1" y="0"/>
            <a:ext cx="4906298" cy="6858000"/>
          </a:xfrm>
          <a:prstGeom prst="rect">
            <a:avLst/>
          </a:prstGeom>
          <a:blipFill>
            <a:blip r:embed="rId4">
              <a:alphaModFix amt="80000"/>
            </a:blip>
            <a:stretch>
              <a:fillRect/>
            </a:stretch>
          </a:blipFill>
        </p:spPr>
      </p:pic>
    </p:spTree>
    <p:extLst>
      <p:ext uri="{BB962C8B-B14F-4D97-AF65-F5344CB8AC3E}">
        <p14:creationId xmlns:p14="http://schemas.microsoft.com/office/powerpoint/2010/main" val="30583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0988385-794F-A6F1-22CA-9A31634C0EC3}"/>
              </a:ext>
            </a:extLst>
          </p:cNvPr>
          <p:cNvSpPr>
            <a:spLocks noGrp="1"/>
          </p:cNvSpPr>
          <p:nvPr>
            <p:ph type="dt" sz="half" idx="10"/>
          </p:nvPr>
        </p:nvSpPr>
        <p:spPr/>
        <p:txBody>
          <a:bodyPr/>
          <a:lstStyle/>
          <a:p>
            <a:fld id="{CE994A23-0EFF-404D-A2C5-6B54939039AD}" type="datetime1">
              <a:rPr lang="en-US" smtClean="0"/>
              <a:t>5/13/2026</a:t>
            </a:fld>
            <a:endParaRPr lang="en-US"/>
          </a:p>
        </p:txBody>
      </p:sp>
      <p:sp>
        <p:nvSpPr>
          <p:cNvPr id="4" name="Slide Number Placeholder 3">
            <a:extLst>
              <a:ext uri="{FF2B5EF4-FFF2-40B4-BE49-F238E27FC236}">
                <a16:creationId xmlns:a16="http://schemas.microsoft.com/office/drawing/2014/main" id="{F8A813B4-B548-3B44-17A5-C4FD61B2492E}"/>
              </a:ext>
            </a:extLst>
          </p:cNvPr>
          <p:cNvSpPr>
            <a:spLocks noGrp="1"/>
          </p:cNvSpPr>
          <p:nvPr>
            <p:ph type="sldNum" sz="quarter" idx="12"/>
          </p:nvPr>
        </p:nvSpPr>
        <p:spPr/>
        <p:txBody>
          <a:bodyPr/>
          <a:lstStyle/>
          <a:p>
            <a:fld id="{753D0FD4-819D-4187-8797-C35567B41C78}" type="slidenum">
              <a:rPr lang="en-US" smtClean="0"/>
              <a:t>14</a:t>
            </a:fld>
            <a:endParaRPr lang="en-US"/>
          </a:p>
        </p:txBody>
      </p:sp>
      <p:pic>
        <p:nvPicPr>
          <p:cNvPr id="6" name="Picture 5">
            <a:extLst>
              <a:ext uri="{FF2B5EF4-FFF2-40B4-BE49-F238E27FC236}">
                <a16:creationId xmlns:a16="http://schemas.microsoft.com/office/drawing/2014/main" id="{2943129B-D621-F24A-5F7F-1C1A3CD8D60D}"/>
              </a:ext>
            </a:extLst>
          </p:cNvPr>
          <p:cNvPicPr>
            <a:picLocks noChangeAspect="1"/>
          </p:cNvPicPr>
          <p:nvPr/>
        </p:nvPicPr>
        <p:blipFill>
          <a:blip r:embed="rId2"/>
          <a:stretch>
            <a:fillRect/>
          </a:stretch>
        </p:blipFill>
        <p:spPr>
          <a:xfrm>
            <a:off x="0" y="1054192"/>
            <a:ext cx="12192000" cy="5516532"/>
          </a:xfrm>
          <a:prstGeom prst="rect">
            <a:avLst/>
          </a:prstGeom>
        </p:spPr>
      </p:pic>
    </p:spTree>
    <p:extLst>
      <p:ext uri="{BB962C8B-B14F-4D97-AF65-F5344CB8AC3E}">
        <p14:creationId xmlns:p14="http://schemas.microsoft.com/office/powerpoint/2010/main" val="2259184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E9FF5-3149-4CBB-14D5-D8C9B9A0F629}"/>
              </a:ext>
            </a:extLst>
          </p:cNvPr>
          <p:cNvSpPr>
            <a:spLocks noGrp="1"/>
          </p:cNvSpPr>
          <p:nvPr>
            <p:ph type="title"/>
          </p:nvPr>
        </p:nvSpPr>
        <p:spPr>
          <a:xfrm>
            <a:off x="64008" y="1435608"/>
            <a:ext cx="11594592" cy="5559552"/>
          </a:xfrm>
        </p:spPr>
        <p:txBody>
          <a:bodyPr anchor="b">
            <a:normAutofit/>
          </a:bodyPr>
          <a:lstStyle/>
          <a:p>
            <a:r>
              <a:rPr lang="en-US" sz="10000" dirty="0"/>
              <a:t>Multivariate Regional Summary</a:t>
            </a:r>
          </a:p>
        </p:txBody>
      </p:sp>
      <p:sp>
        <p:nvSpPr>
          <p:cNvPr id="6" name="Date Placeholder 5">
            <a:extLst>
              <a:ext uri="{FF2B5EF4-FFF2-40B4-BE49-F238E27FC236}">
                <a16:creationId xmlns:a16="http://schemas.microsoft.com/office/drawing/2014/main" id="{967A56BC-9CF5-04F1-DEF5-73E05A9581AF}"/>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5/13/2026</a:t>
            </a:fld>
            <a:endParaRPr lang="en-US"/>
          </a:p>
        </p:txBody>
      </p:sp>
      <p:sp>
        <p:nvSpPr>
          <p:cNvPr id="7" name="Slide Number Placeholder 6">
            <a:extLst>
              <a:ext uri="{FF2B5EF4-FFF2-40B4-BE49-F238E27FC236}">
                <a16:creationId xmlns:a16="http://schemas.microsoft.com/office/drawing/2014/main" id="{C9D0843C-B893-9E2D-444D-74C0343F581D}"/>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15</a:t>
            </a:fld>
            <a:endParaRPr lang="en-US"/>
          </a:p>
        </p:txBody>
      </p:sp>
    </p:spTree>
    <p:extLst>
      <p:ext uri="{BB962C8B-B14F-4D97-AF65-F5344CB8AC3E}">
        <p14:creationId xmlns:p14="http://schemas.microsoft.com/office/powerpoint/2010/main" val="24390383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4863-2425-A85C-E0FB-44BDD02B0678}"/>
              </a:ext>
            </a:extLst>
          </p:cNvPr>
          <p:cNvSpPr>
            <a:spLocks noGrp="1"/>
          </p:cNvSpPr>
          <p:nvPr>
            <p:ph type="title"/>
          </p:nvPr>
        </p:nvSpPr>
        <p:spPr/>
        <p:txBody>
          <a:bodyPr>
            <a:normAutofit/>
          </a:bodyPr>
          <a:lstStyle/>
          <a:p>
            <a:r>
              <a:rPr lang="en-US" sz="3600" dirty="0">
                <a:latin typeface="Segoe UI" panose="020B0502040204020203" pitchFamily="34" charset="0"/>
                <a:cs typeface="Segoe UI" panose="020B0502040204020203" pitchFamily="34" charset="0"/>
              </a:rPr>
              <a:t>Regional Heatmap of Policy and Burden</a:t>
            </a:r>
          </a:p>
        </p:txBody>
      </p:sp>
      <p:sp>
        <p:nvSpPr>
          <p:cNvPr id="4" name="Date Placeholder 3">
            <a:extLst>
              <a:ext uri="{FF2B5EF4-FFF2-40B4-BE49-F238E27FC236}">
                <a16:creationId xmlns:a16="http://schemas.microsoft.com/office/drawing/2014/main" id="{7B636039-CACC-51F8-2026-98BBFCB8918C}"/>
              </a:ext>
            </a:extLst>
          </p:cNvPr>
          <p:cNvSpPr>
            <a:spLocks noGrp="1"/>
          </p:cNvSpPr>
          <p:nvPr>
            <p:ph type="dt" sz="half" idx="10"/>
          </p:nvPr>
        </p:nvSpPr>
        <p:spPr/>
        <p:txBody>
          <a:bodyPr/>
          <a:lstStyle/>
          <a:p>
            <a:fld id="{9EAD527F-9C49-4481-A18C-80BA2EA99E79}" type="datetime1">
              <a:rPr lang="en-US" smtClean="0"/>
              <a:t>5/13/2026</a:t>
            </a:fld>
            <a:endParaRPr lang="en-US"/>
          </a:p>
        </p:txBody>
      </p:sp>
      <p:sp>
        <p:nvSpPr>
          <p:cNvPr id="5" name="Slide Number Placeholder 4">
            <a:extLst>
              <a:ext uri="{FF2B5EF4-FFF2-40B4-BE49-F238E27FC236}">
                <a16:creationId xmlns:a16="http://schemas.microsoft.com/office/drawing/2014/main" id="{7D3B75BB-3006-751B-3ABE-D9E623504456}"/>
              </a:ext>
            </a:extLst>
          </p:cNvPr>
          <p:cNvSpPr>
            <a:spLocks noGrp="1"/>
          </p:cNvSpPr>
          <p:nvPr>
            <p:ph type="sldNum" sz="quarter" idx="12"/>
          </p:nvPr>
        </p:nvSpPr>
        <p:spPr/>
        <p:txBody>
          <a:bodyPr/>
          <a:lstStyle/>
          <a:p>
            <a:fld id="{753D0FD4-819D-4187-8797-C35567B41C78}" type="slidenum">
              <a:rPr lang="en-US" smtClean="0"/>
              <a:t>16</a:t>
            </a:fld>
            <a:endParaRPr lang="en-US"/>
          </a:p>
        </p:txBody>
      </p:sp>
      <p:sp>
        <p:nvSpPr>
          <p:cNvPr id="7" name="Content Placeholder 6">
            <a:extLst>
              <a:ext uri="{FF2B5EF4-FFF2-40B4-BE49-F238E27FC236}">
                <a16:creationId xmlns:a16="http://schemas.microsoft.com/office/drawing/2014/main" id="{634E9913-FD84-328A-0064-9378D5AF3FB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57606" y="1773857"/>
            <a:ext cx="5349240" cy="4453128"/>
          </a:xfrm>
        </p:spPr>
        <p:txBody>
          <a:bodyPr/>
          <a:lstStyle/>
          <a:p>
            <a:pPr>
              <a:buFont typeface="Arial" panose="020B0604020202020204" pitchFamily="34" charset="0"/>
              <a:buChar char="•"/>
            </a:pPr>
            <a:r>
              <a:rPr lang="en-US" dirty="0"/>
              <a:t>Multivariate Regional Summary</a:t>
            </a:r>
          </a:p>
          <a:p>
            <a:pPr marL="742950" lvl="1" indent="-285750">
              <a:buFont typeface="Arial" panose="020B0604020202020204" pitchFamily="34" charset="0"/>
              <a:buChar char="•"/>
            </a:pPr>
            <a:r>
              <a:rPr lang="en-US" dirty="0"/>
              <a:t>Heatmap combines regulation share, average DALY rate, and death rate for comprehensive regional comparison.</a:t>
            </a:r>
          </a:p>
          <a:p>
            <a:pPr>
              <a:buFont typeface="Arial" panose="020B0604020202020204" pitchFamily="34" charset="0"/>
              <a:buChar char="•"/>
            </a:pPr>
            <a:r>
              <a:rPr lang="en-US" dirty="0"/>
              <a:t>Normalization for Comparability</a:t>
            </a:r>
          </a:p>
          <a:p>
            <a:pPr marL="742950" lvl="1" indent="-285750">
              <a:buFont typeface="Arial" panose="020B0604020202020204" pitchFamily="34" charset="0"/>
              <a:buChar char="•"/>
            </a:pPr>
            <a:r>
              <a:rPr lang="en-US" dirty="0"/>
              <a:t>Indicators are normalized to avoid misleading comparisons while preserving actual values in each cell.</a:t>
            </a:r>
          </a:p>
          <a:p>
            <a:pPr>
              <a:buFont typeface="Arial" panose="020B0604020202020204" pitchFamily="34" charset="0"/>
              <a:buChar char="•"/>
            </a:pPr>
            <a:r>
              <a:rPr lang="en-US" dirty="0"/>
              <a:t>Insightful Pattern Recognition</a:t>
            </a:r>
          </a:p>
          <a:p>
            <a:pPr marL="742950" lvl="1" indent="-285750">
              <a:buFont typeface="Arial" panose="020B0604020202020204" pitchFamily="34" charset="0"/>
              <a:buChar char="•"/>
            </a:pPr>
            <a:r>
              <a:rPr lang="en-US" dirty="0"/>
              <a:t>Heatmap reveals complex patterns linking regulation coverage to health burdens across regions.</a:t>
            </a:r>
          </a:p>
        </p:txBody>
      </p:sp>
      <p:pic>
        <p:nvPicPr>
          <p:cNvPr id="6" name="Picture 5">
            <a:extLst>
              <a:ext uri="{FF2B5EF4-FFF2-40B4-BE49-F238E27FC236}">
                <a16:creationId xmlns:a16="http://schemas.microsoft.com/office/drawing/2014/main" id="{F2B8A65C-06FD-A025-27BE-1546740D7651}"/>
              </a:ext>
            </a:extLst>
          </p:cNvPr>
          <p:cNvPicPr>
            <a:picLocks noChangeAspect="1"/>
          </p:cNvPicPr>
          <p:nvPr/>
        </p:nvPicPr>
        <p:blipFill>
          <a:blip r:embed="rId3"/>
          <a:stretch>
            <a:fillRect/>
          </a:stretch>
        </p:blipFill>
        <p:spPr>
          <a:xfrm>
            <a:off x="1" y="1773857"/>
            <a:ext cx="6657606" cy="4453128"/>
          </a:xfrm>
          <a:prstGeom prst="rect">
            <a:avLst/>
          </a:prstGeom>
        </p:spPr>
      </p:pic>
    </p:spTree>
    <p:extLst>
      <p:ext uri="{BB962C8B-B14F-4D97-AF65-F5344CB8AC3E}">
        <p14:creationId xmlns:p14="http://schemas.microsoft.com/office/powerpoint/2010/main" val="298289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526BE-A398-4C4A-D3D1-D1A0A3C3B23F}"/>
              </a:ext>
            </a:extLst>
          </p:cNvPr>
          <p:cNvSpPr>
            <a:spLocks noGrp="1"/>
          </p:cNvSpPr>
          <p:nvPr>
            <p:ph type="title"/>
          </p:nvPr>
        </p:nvSpPr>
        <p:spPr>
          <a:xfrm>
            <a:off x="64008" y="1435608"/>
            <a:ext cx="11594592" cy="5559552"/>
          </a:xfrm>
        </p:spPr>
        <p:txBody>
          <a:bodyPr anchor="b">
            <a:normAutofit/>
          </a:bodyPr>
          <a:lstStyle/>
          <a:p>
            <a:r>
              <a:rPr lang="en-US" sz="10000" dirty="0"/>
              <a:t>Validation, Insights, and Conclusion</a:t>
            </a:r>
          </a:p>
        </p:txBody>
      </p:sp>
      <p:sp>
        <p:nvSpPr>
          <p:cNvPr id="6" name="Date Placeholder 5">
            <a:extLst>
              <a:ext uri="{FF2B5EF4-FFF2-40B4-BE49-F238E27FC236}">
                <a16:creationId xmlns:a16="http://schemas.microsoft.com/office/drawing/2014/main" id="{65C11EBF-2787-F5C2-4E83-C65840FE544E}"/>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5/13/2026</a:t>
            </a:fld>
            <a:endParaRPr lang="en-US"/>
          </a:p>
        </p:txBody>
      </p:sp>
      <p:sp>
        <p:nvSpPr>
          <p:cNvPr id="7" name="Slide Number Placeholder 6">
            <a:extLst>
              <a:ext uri="{FF2B5EF4-FFF2-40B4-BE49-F238E27FC236}">
                <a16:creationId xmlns:a16="http://schemas.microsoft.com/office/drawing/2014/main" id="{B3FE693A-1448-BCDA-20AB-9150681C9396}"/>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17</a:t>
            </a:fld>
            <a:endParaRPr lang="en-US"/>
          </a:p>
        </p:txBody>
      </p:sp>
    </p:spTree>
    <p:extLst>
      <p:ext uri="{BB962C8B-B14F-4D97-AF65-F5344CB8AC3E}">
        <p14:creationId xmlns:p14="http://schemas.microsoft.com/office/powerpoint/2010/main" val="41982917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C8FF2-CE4B-F973-687A-325263E93091}"/>
              </a:ext>
            </a:extLst>
          </p:cNvPr>
          <p:cNvSpPr>
            <a:spLocks noGrp="1"/>
          </p:cNvSpPr>
          <p:nvPr>
            <p:ph type="title"/>
          </p:nvPr>
        </p:nvSpPr>
        <p:spPr>
          <a:xfrm>
            <a:off x="320558" y="612648"/>
            <a:ext cx="7015483" cy="1033272"/>
          </a:xfrm>
        </p:spPr>
        <p:txBody>
          <a:bodyPr anchor="b">
            <a:normAutofit fontScale="90000"/>
          </a:bodyPr>
          <a:lstStyle/>
          <a:p>
            <a:r>
              <a:rPr lang="en-US" dirty="0"/>
              <a:t>Key Insights, Limitations, and Takeaways</a:t>
            </a:r>
          </a:p>
        </p:txBody>
      </p:sp>
      <p:sp>
        <p:nvSpPr>
          <p:cNvPr id="4" name="Date Placeholder 3">
            <a:extLst>
              <a:ext uri="{FF2B5EF4-FFF2-40B4-BE49-F238E27FC236}">
                <a16:creationId xmlns:a16="http://schemas.microsoft.com/office/drawing/2014/main" id="{BACF1965-74F1-FDEA-E1EE-821855DB8348}"/>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5/13/2026</a:t>
            </a:fld>
            <a:endParaRPr lang="en-US"/>
          </a:p>
        </p:txBody>
      </p:sp>
      <p:sp>
        <p:nvSpPr>
          <p:cNvPr id="5" name="Slide Number Placeholder 4">
            <a:extLst>
              <a:ext uri="{FF2B5EF4-FFF2-40B4-BE49-F238E27FC236}">
                <a16:creationId xmlns:a16="http://schemas.microsoft.com/office/drawing/2014/main" id="{E873B494-48EC-81AF-DCA5-358670155C88}"/>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18</a:t>
            </a:fld>
            <a:endParaRPr lang="en-US"/>
          </a:p>
        </p:txBody>
      </p:sp>
      <p:sp>
        <p:nvSpPr>
          <p:cNvPr id="7" name="Content Placeholder 6">
            <a:extLst>
              <a:ext uri="{FF2B5EF4-FFF2-40B4-BE49-F238E27FC236}">
                <a16:creationId xmlns:a16="http://schemas.microsoft.com/office/drawing/2014/main" id="{3F9D00C8-3BB3-F896-57DF-CFE831B3823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a:normAutofit/>
          </a:bodyPr>
          <a:lstStyle/>
          <a:p>
            <a:pPr marL="0" indent="0">
              <a:lnSpc>
                <a:spcPct val="110000"/>
              </a:lnSpc>
              <a:spcBef>
                <a:spcPts val="2500"/>
              </a:spcBef>
              <a:buFont typeface="Arial" panose="020B0604020202020204" pitchFamily="34" charset="0"/>
              <a:buNone/>
            </a:pPr>
            <a:r>
              <a:rPr lang="en-US" sz="1600" b="1" dirty="0"/>
              <a:t>Multilevel Data Validation</a:t>
            </a:r>
          </a:p>
          <a:p>
            <a:pPr marL="0" lvl="1" indent="0">
              <a:lnSpc>
                <a:spcPct val="110000"/>
              </a:lnSpc>
              <a:buFont typeface="Arial" panose="020B0604020202020204" pitchFamily="34" charset="0"/>
              <a:buNone/>
            </a:pPr>
            <a:r>
              <a:rPr lang="en-US" dirty="0"/>
              <a:t>The project includes harmonization of country data and validation to ensure accurate mapping and visualization.</a:t>
            </a:r>
          </a:p>
          <a:p>
            <a:pPr marL="0" indent="0">
              <a:lnSpc>
                <a:spcPct val="110000"/>
              </a:lnSpc>
              <a:spcBef>
                <a:spcPts val="2500"/>
              </a:spcBef>
              <a:buFont typeface="Arial" panose="020B0604020202020204" pitchFamily="34" charset="0"/>
              <a:buNone/>
            </a:pPr>
            <a:r>
              <a:rPr lang="en-US" sz="1600" b="1" dirty="0"/>
              <a:t>Key Analytical Insights</a:t>
            </a:r>
          </a:p>
          <a:p>
            <a:pPr marL="0" lvl="1" indent="0">
              <a:lnSpc>
                <a:spcPct val="110000"/>
              </a:lnSpc>
              <a:buFont typeface="Arial" panose="020B0604020202020204" pitchFamily="34" charset="0"/>
              <a:buNone/>
            </a:pPr>
            <a:r>
              <a:rPr lang="en-US" dirty="0"/>
              <a:t>Lead paint regulation shows uneven global coverage with regional disparities and complex health burden patterns.</a:t>
            </a:r>
          </a:p>
          <a:p>
            <a:pPr marL="0" indent="0">
              <a:lnSpc>
                <a:spcPct val="110000"/>
              </a:lnSpc>
              <a:spcBef>
                <a:spcPts val="2500"/>
              </a:spcBef>
              <a:buFont typeface="Arial" panose="020B0604020202020204" pitchFamily="34" charset="0"/>
              <a:buNone/>
            </a:pPr>
            <a:r>
              <a:rPr lang="en-US" sz="1600" b="1" dirty="0"/>
              <a:t>Project Limitations</a:t>
            </a:r>
          </a:p>
          <a:p>
            <a:pPr marL="0" lvl="1" indent="0">
              <a:lnSpc>
                <a:spcPct val="110000"/>
              </a:lnSpc>
              <a:buFont typeface="Arial" panose="020B0604020202020204" pitchFamily="34" charset="0"/>
              <a:buNone/>
            </a:pPr>
            <a:r>
              <a:rPr lang="en-US" dirty="0"/>
              <a:t>Regulation data is binary and does not capture enforcement strength; health outcomes have multiple exposure sources.</a:t>
            </a:r>
          </a:p>
          <a:p>
            <a:pPr marL="0" indent="0">
              <a:lnSpc>
                <a:spcPct val="110000"/>
              </a:lnSpc>
              <a:spcBef>
                <a:spcPts val="2500"/>
              </a:spcBef>
              <a:buFont typeface="Arial" panose="020B0604020202020204" pitchFamily="34" charset="0"/>
              <a:buNone/>
            </a:pPr>
            <a:r>
              <a:rPr lang="en-US" sz="1600" b="1" dirty="0"/>
              <a:t>Effective Data Visualization</a:t>
            </a:r>
          </a:p>
          <a:p>
            <a:pPr marL="0" lvl="1" indent="0">
              <a:lnSpc>
                <a:spcPct val="110000"/>
              </a:lnSpc>
              <a:buFont typeface="Arial" panose="020B0604020202020204" pitchFamily="34" charset="0"/>
              <a:buNone/>
            </a:pPr>
            <a:r>
              <a:rPr lang="en-US" dirty="0"/>
              <a:t>The project transforms complex data into accessible narratives using spatial, comparative, and multivariate visualizations.</a:t>
            </a:r>
          </a:p>
        </p:txBody>
      </p:sp>
      <p:pic>
        <p:nvPicPr>
          <p:cNvPr id="8" name="Content Placeholder 7" descr="Digital Abstract Background Connections With Copy Space">
            <a:extLst>
              <a:ext uri="{FF2B5EF4-FFF2-40B4-BE49-F238E27FC236}">
                <a16:creationId xmlns:a16="http://schemas.microsoft.com/office/drawing/2014/main" id="{4E9305F1-FBC1-4E4A-8E03-5A459A6D4C14}"/>
              </a:ext>
            </a:extLst>
          </p:cNvPr>
          <p:cNvPicPr>
            <a:picLocks noGrp="1" noChangeAspect="1"/>
          </p:cNvPicPr>
          <p:nvPr>
            <p:ph type="pic" sz="quarter" idx="13"/>
          </p:nvPr>
        </p:nvPicPr>
        <p:blipFill>
          <a:blip r:embed="rId3"/>
          <a:srcRect l="27709" r="36061"/>
          <a:stretch>
            <a:fillRect/>
          </a:stretch>
        </p:blipFill>
        <p:spPr>
          <a:xfrm>
            <a:off x="7773592" y="10"/>
            <a:ext cx="4417215" cy="6857990"/>
          </a:xfrm>
        </p:spPr>
      </p:pic>
    </p:spTree>
    <p:extLst>
      <p:ext uri="{BB962C8B-B14F-4D97-AF65-F5344CB8AC3E}">
        <p14:creationId xmlns:p14="http://schemas.microsoft.com/office/powerpoint/2010/main" val="36100870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DB79D-CEAF-6E54-F652-3D94D081DA10}"/>
              </a:ext>
            </a:extLst>
          </p:cNvPr>
          <p:cNvSpPr>
            <a:spLocks noGrp="1"/>
          </p:cNvSpPr>
          <p:nvPr>
            <p:ph type="title"/>
          </p:nvPr>
        </p:nvSpPr>
        <p:spPr>
          <a:xfrm>
            <a:off x="320559" y="1270390"/>
            <a:ext cx="8331827" cy="2060888"/>
          </a:xfrm>
        </p:spPr>
        <p:txBody>
          <a:bodyPr/>
          <a:lstStyle/>
          <a:p>
            <a:r>
              <a:rPr lang="en-US" dirty="0" err="1">
                <a:latin typeface="Algerian" panose="04020705040A02060702" pitchFamily="82" charset="0"/>
              </a:rPr>
              <a:t>ThANKS</a:t>
            </a:r>
            <a:r>
              <a:rPr lang="en-US" dirty="0">
                <a:latin typeface="Algerian" panose="04020705040A02060702" pitchFamily="82" charset="0"/>
              </a:rPr>
              <a:t> All </a:t>
            </a:r>
            <a:r>
              <a:rPr lang="en-US" dirty="0">
                <a:latin typeface="Algerian" panose="04020705040A02060702" pitchFamily="82" charset="0"/>
                <a:sym typeface="Wingdings" panose="05000000000000000000" pitchFamily="2" charset="2"/>
              </a:rPr>
              <a:t></a:t>
            </a:r>
            <a:endParaRPr lang="en-US" dirty="0">
              <a:latin typeface="Algerian" panose="04020705040A02060702" pitchFamily="82" charset="0"/>
            </a:endParaRPr>
          </a:p>
        </p:txBody>
      </p:sp>
      <p:sp>
        <p:nvSpPr>
          <p:cNvPr id="3" name="Content Placeholder 2">
            <a:extLst>
              <a:ext uri="{FF2B5EF4-FFF2-40B4-BE49-F238E27FC236}">
                <a16:creationId xmlns:a16="http://schemas.microsoft.com/office/drawing/2014/main" id="{EEFEF2EB-C6E8-5386-1157-11646EC93DBD}"/>
              </a:ext>
            </a:extLst>
          </p:cNvPr>
          <p:cNvSpPr>
            <a:spLocks noGrp="1"/>
          </p:cNvSpPr>
          <p:nvPr>
            <p:ph idx="1"/>
          </p:nvPr>
        </p:nvSpPr>
        <p:spPr/>
        <p:txBody>
          <a:bodyPr/>
          <a:lstStyle/>
          <a:p>
            <a:r>
              <a:rPr lang="en-US" dirty="0"/>
              <a:t>Don’t hesitate if you’ve any questions or notes</a:t>
            </a:r>
          </a:p>
        </p:txBody>
      </p:sp>
      <p:sp>
        <p:nvSpPr>
          <p:cNvPr id="4" name="Footer Placeholder 3">
            <a:extLst>
              <a:ext uri="{FF2B5EF4-FFF2-40B4-BE49-F238E27FC236}">
                <a16:creationId xmlns:a16="http://schemas.microsoft.com/office/drawing/2014/main" id="{C8A2ABF7-9720-E3FD-E080-5A808196CD61}"/>
              </a:ext>
            </a:extLst>
          </p:cNvPr>
          <p:cNvSpPr>
            <a:spLocks noGrp="1"/>
          </p:cNvSpPr>
          <p:nvPr>
            <p:ph type="ftr" sz="quarter" idx="11"/>
          </p:nvPr>
        </p:nvSpPr>
        <p:spPr/>
        <p:txBody>
          <a:bodyPr/>
          <a:lstStyle/>
          <a:p>
            <a:r>
              <a:rPr lang="en-US" dirty="0"/>
              <a:t>Prepared By: Mohammad A. Hijazi</a:t>
            </a:r>
          </a:p>
        </p:txBody>
      </p:sp>
      <p:sp>
        <p:nvSpPr>
          <p:cNvPr id="5" name="Date Placeholder 4">
            <a:extLst>
              <a:ext uri="{FF2B5EF4-FFF2-40B4-BE49-F238E27FC236}">
                <a16:creationId xmlns:a16="http://schemas.microsoft.com/office/drawing/2014/main" id="{D4A661A5-0E51-9CF1-E973-7E15AF56442C}"/>
              </a:ext>
            </a:extLst>
          </p:cNvPr>
          <p:cNvSpPr>
            <a:spLocks noGrp="1"/>
          </p:cNvSpPr>
          <p:nvPr>
            <p:ph type="dt" sz="half" idx="10"/>
          </p:nvPr>
        </p:nvSpPr>
        <p:spPr/>
        <p:txBody>
          <a:bodyPr/>
          <a:lstStyle/>
          <a:p>
            <a:fld id="{F50BF9E0-60DA-4D6D-8F14-825F152220D6}" type="datetime1">
              <a:rPr lang="en-US" smtClean="0"/>
              <a:t>5/13/2026</a:t>
            </a:fld>
            <a:endParaRPr lang="en-US"/>
          </a:p>
        </p:txBody>
      </p:sp>
      <p:sp>
        <p:nvSpPr>
          <p:cNvPr id="6" name="Slide Number Placeholder 5">
            <a:extLst>
              <a:ext uri="{FF2B5EF4-FFF2-40B4-BE49-F238E27FC236}">
                <a16:creationId xmlns:a16="http://schemas.microsoft.com/office/drawing/2014/main" id="{155A64BC-1342-1B76-4E2F-F50F31B79E1E}"/>
              </a:ext>
            </a:extLst>
          </p:cNvPr>
          <p:cNvSpPr>
            <a:spLocks noGrp="1"/>
          </p:cNvSpPr>
          <p:nvPr>
            <p:ph type="sldNum" sz="quarter" idx="12"/>
          </p:nvPr>
        </p:nvSpPr>
        <p:spPr/>
        <p:txBody>
          <a:bodyPr/>
          <a:lstStyle/>
          <a:p>
            <a:fld id="{753D0FD4-819D-4187-8797-C35567B41C78}" type="slidenum">
              <a:rPr lang="en-US" smtClean="0"/>
              <a:t>19</a:t>
            </a:fld>
            <a:endParaRPr lang="en-US"/>
          </a:p>
        </p:txBody>
      </p:sp>
    </p:spTree>
    <p:extLst>
      <p:ext uri="{BB962C8B-B14F-4D97-AF65-F5344CB8AC3E}">
        <p14:creationId xmlns:p14="http://schemas.microsoft.com/office/powerpoint/2010/main" val="3191589440"/>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820</TotalTime>
  <Words>3944</Words>
  <Application>Microsoft Office PowerPoint</Application>
  <PresentationFormat>Widescreen</PresentationFormat>
  <Paragraphs>154</Paragraphs>
  <Slides>19</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Algerian</vt:lpstr>
      <vt:lpstr>Arial</vt:lpstr>
      <vt:lpstr>Calibri</vt:lpstr>
      <vt:lpstr>Haettenschweiler</vt:lpstr>
      <vt:lpstr>Segoe UI</vt:lpstr>
      <vt:lpstr>Trade Gothic Next Light</vt:lpstr>
      <vt:lpstr>Editorial</vt:lpstr>
      <vt:lpstr>Visualizing Global Lead Pollution Policy A Comparative Study of Lead Paint Regulation</vt:lpstr>
      <vt:lpstr>Introduction and Motivation</vt:lpstr>
      <vt:lpstr>Why Lead Paint Regulation Matters</vt:lpstr>
      <vt:lpstr>Problem Formulation and Task Abstraction</vt:lpstr>
      <vt:lpstr>From Policy Question to Visualization Tasks</vt:lpstr>
      <vt:lpstr>Data Description and Preparation</vt:lpstr>
      <vt:lpstr>Integrating Policy and Health-Burden Data</vt:lpstr>
      <vt:lpstr>Dashboard Overview and Visual Architecture</vt:lpstr>
      <vt:lpstr>Overview-First Interactive Design</vt:lpstr>
      <vt:lpstr>Spatial and Comparative Visualizations</vt:lpstr>
      <vt:lpstr>Maps, Counts, and Regional Comparisons</vt:lpstr>
      <vt:lpstr>Relationship and Ranking Analyses</vt:lpstr>
      <vt:lpstr>DALY–Death Relationships and High-Burden Countries</vt:lpstr>
      <vt:lpstr>PowerPoint Presentation</vt:lpstr>
      <vt:lpstr>Multivariate Regional Summary</vt:lpstr>
      <vt:lpstr>Regional Heatmap of Policy and Burden</vt:lpstr>
      <vt:lpstr>Validation, Insights, and Conclusion</vt:lpstr>
      <vt:lpstr>Key Insights, Limitations, and Takeaways</vt:lpstr>
      <vt:lpstr>ThANKS All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mohamad.hijazi05@lau.edu</dc:creator>
  <cp:lastModifiedBy>Mohamad Hijazi</cp:lastModifiedBy>
  <cp:revision>21</cp:revision>
  <dcterms:modified xsi:type="dcterms:W3CDTF">2026-05-13T15:25:57Z</dcterms:modified>
</cp:coreProperties>
</file>